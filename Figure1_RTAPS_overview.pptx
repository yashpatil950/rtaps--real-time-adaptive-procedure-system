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9"/>
  </p:normalViewPr>
  <p:slideViewPr>
    <p:cSldViewPr snapToGrid="0" snapToObjects="1">
      <p:cViewPr varScale="1">
        <p:scale>
          <a:sx n="87" d="100"/>
          <a:sy n="87" d="100"/>
        </p:scale>
        <p:origin x="1440" y="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C5D8F"/>
                </a:solidFill>
              </a:rPr>
              <a:t>LIVE SYSTEM (during the task, once per second)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40080"/>
            <a:ext cx="2651760" cy="2286000"/>
          </a:xfrm>
          <a:prstGeom prst="rect">
            <a:avLst/>
          </a:prstGeom>
          <a:solidFill>
            <a:srgbClr val="EAF2FB"/>
          </a:solidFill>
          <a:ln w="15875">
            <a:solidFill>
              <a:srgbClr val="223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</a:rPr>
              <a:t>Operator + eye tracker</a:t>
            </a:r>
          </a:p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Pupil Core, head-worn</a:t>
            </a:r>
          </a:p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pupil diameter (~120 Hz)</a:t>
            </a:r>
          </a:p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blink events</a:t>
            </a:r>
          </a:p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fixation events</a:t>
            </a:r>
          </a:p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[2-min baseline first]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640080"/>
            <a:ext cx="3108960" cy="2286000"/>
          </a:xfrm>
          <a:prstGeom prst="rect">
            <a:avLst/>
          </a:prstGeom>
          <a:solidFill>
            <a:srgbClr val="EAF7EE"/>
          </a:solidFill>
          <a:ln w="15875">
            <a:solidFill>
              <a:srgbClr val="223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</a:rPr>
              <a:t>Feature extraction (1 Hz)</a:t>
            </a:r>
          </a:p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over sliding windows:</a:t>
            </a:r>
          </a:p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PCPS = mean % change (10 s)</a:t>
            </a:r>
          </a:p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pupil dilation rate (10 s)</a:t>
            </a:r>
          </a:p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blink count (30 s)</a:t>
            </a:r>
          </a:p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mean fixation duration (30 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868680"/>
            <a:ext cx="2468880" cy="1828800"/>
          </a:xfrm>
          <a:prstGeom prst="rect">
            <a:avLst/>
          </a:prstGeom>
          <a:solidFill>
            <a:srgbClr val="F3EEFB"/>
          </a:solidFill>
          <a:ln w="15875">
            <a:solidFill>
              <a:srgbClr val="223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</a:rPr>
              <a:t>Random Forest</a:t>
            </a:r>
          </a:p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classifier</a:t>
            </a:r>
          </a:p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LOW / HIGH workload</a:t>
            </a:r>
          </a:p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every second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868680"/>
            <a:ext cx="2560320" cy="1828800"/>
          </a:xfrm>
          <a:prstGeom prst="rect">
            <a:avLst/>
          </a:prstGeom>
          <a:solidFill>
            <a:srgbClr val="FDF3E7"/>
          </a:solidFill>
          <a:ln w="15875">
            <a:solidFill>
              <a:srgbClr val="223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</a:rPr>
              <a:t>Adaptive display</a:t>
            </a:r>
          </a:p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smoother (3 s)</a:t>
            </a:r>
          </a:p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reveals extra step</a:t>
            </a:r>
          </a:p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guidance when 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6576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B4FA0"/>
                </a:solidFill>
              </a:rPr>
              <a:t>OFFLINE MODEL DEVELOPMENT (before deployment)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114800"/>
            <a:ext cx="2926080" cy="2011680"/>
          </a:xfrm>
          <a:prstGeom prst="rect">
            <a:avLst/>
          </a:prstGeom>
          <a:solidFill>
            <a:srgbClr val="EFEAFB"/>
          </a:solidFill>
          <a:ln w="15875">
            <a:solidFill>
              <a:srgbClr val="223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</a:rPr>
              <a:t>Recorded sessions</a:t>
            </a:r>
          </a:p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operators perform each</a:t>
            </a:r>
          </a:p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procedure twice;</a:t>
            </a:r>
          </a:p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same signals recorded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4114800"/>
            <a:ext cx="3291840" cy="2011680"/>
          </a:xfrm>
          <a:prstGeom prst="rect">
            <a:avLst/>
          </a:prstGeom>
          <a:solidFill>
            <a:srgbClr val="EFEAFB"/>
          </a:solidFill>
          <a:ln w="15875">
            <a:solidFill>
              <a:srgbClr val="223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</a:rPr>
              <a:t>Workload labels</a:t>
            </a:r>
          </a:p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CPM-GOMS task decomposition</a:t>
            </a:r>
          </a:p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then VACP demand ratings</a:t>
            </a:r>
          </a:p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then per-step workload index</a:t>
            </a:r>
          </a:p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then LOW / HIGH per step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4114800"/>
            <a:ext cx="2926080" cy="2011680"/>
          </a:xfrm>
          <a:prstGeom prst="rect">
            <a:avLst/>
          </a:prstGeom>
          <a:solidFill>
            <a:srgbClr val="EFEAFB"/>
          </a:solidFill>
          <a:ln w="15875">
            <a:solidFill>
              <a:srgbClr val="223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chemeClr val="tx1"/>
                </a:solidFill>
              </a:rPr>
              <a:t>Train + evaluate</a:t>
            </a:r>
          </a:p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Random Forest;</a:t>
            </a:r>
          </a:p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participant-grouped</a:t>
            </a:r>
          </a:p>
          <a:p>
            <a:pPr algn="ctr">
              <a:defRPr sz="900"/>
            </a:pPr>
            <a:r>
              <a:rPr dirty="0">
                <a:solidFill>
                  <a:schemeClr val="tx1"/>
                </a:solidFill>
              </a:rPr>
              <a:t>cross-validation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/>
              <a:t>Figure 1. Overview of the RTAPS pipeline.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149</Words>
  <Application>Microsoft Macintosh PowerPoint</Application>
  <PresentationFormat>Custom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Vijay Patil, Yash</cp:lastModifiedBy>
  <cp:revision>2</cp:revision>
  <dcterms:created xsi:type="dcterms:W3CDTF">2013-01-27T09:14:16Z</dcterms:created>
  <dcterms:modified xsi:type="dcterms:W3CDTF">2026-06-15T03:49:30Z</dcterms:modified>
  <cp:category/>
</cp:coreProperties>
</file>