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9"/>
  </p:normalViewPr>
  <p:slideViewPr>
    <p:cSldViewPr snapToGrid="0" snapToObjects="1">
      <p:cViewPr varScale="1">
        <p:scale>
          <a:sx n="101" d="100"/>
          <a:sy n="101" d="100"/>
        </p:scale>
        <p:origin x="9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218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10–15 seconds. Today I want to show you a system we call RTAPS. The simple idea behind it: the manual that an operator follows should adapt to how hard they're concentrating, instead of showing the same instructions to everyone every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Picture this — your most experienced operator and a brand-new operator both pick up the same procedure today. The screen shows them the exact same text. The expert finds it patronising; the newcomer is overwhelmed. And even the same person on different days can find the same step easy or hard depending on fatigue and distractions. Today's systems don't respond to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it. That's the pitch. Everything else in this deck is just *how* we do this. The operator never has to ask for help — the screen offers it when they need it, and gets out of the way when they don't.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you read something difficult, your pupils dilate a tiny amount — about 5 to 15%. You don't notice, but a small camera can. When you're really focused on one thing, you blink less often. These are involuntary responses; you can't fake them and you can't suppress them. We just measure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aren't custom-built. They're the same glasses researchers and clinicians have been using for years. From the operator's point of view, they're a slightly bulky pair of glasses. That's all. Everything else happens on a laptop they don't have to touch.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operator's first screen. Notice how little text there is. A status light — green, ready. Two trains. Three procedures. That's everything they need to choose. They tap one and we go.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real Shell procedures. The system is loaded with the actual step text, the actual tools, the actual instruments your operators know. If tomorrow Shell wants to add a fourth procedure, it's a configuration file, not a software release.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small but important step. Every person has a different resting pupil size. The 2-minute calibration captures *their* normal — so when the system later sees their pupils grow by 10%, it knows that's 10% relative to *them*, not to some textbook average. The operator does nothing — just looks at the cross. A timer counts down.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the operator's point of view, this looks like any other tablet-based procedure guide. They've seen this kind of checklist before. What's different is the box below the step — the 'Additional Guidance' panel. That panel appears and disappears based on how hard the operator is working.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heart of it. When the operator is breezing through, the screen stays clean. When the system sees their pupils dilate or their blink rate drop, it quietly adds the Key Points panel. If they keep struggling, the system upgrades to the full Why/What/How. None of this requires the operator to click anything.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the system flipped help on and off second by second, the operator would feel like the screen was unstable. So once help appears, it stays for the rest of that step. They see all the help they've earned.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most 'technical' but it's not technical at all — these are biological facts. Emphasise that the operator does NOTHING. The system observes silently.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training and safety teams can pull up this dashboard for any active session. They can see at a glance whether the system is healthy, how the operator is doing, and whether any sensor needs attention. Operators don't see this.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pieces. The operator wears the glasses. The glasses send eye signals to the laptop. The laptop figures out the workload level. The screen updates the guidance. End to end, under one second.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value to Shell. Fewer mistakes, faster training, hands-off, auditable, personalised, non-disruptive. If I were going to pick one to emphasise to your safety team: a system that automatically gives more help during high-load moments could catch the exact errors that happen when an operator is overwhelmed.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2743200"/>
            <a:ext cx="137160" cy="1371600"/>
          </a:xfrm>
          <a:prstGeom prst="rect">
            <a:avLst/>
          </a:prstGeom>
          <a:solidFill>
            <a:srgbClr val="FBC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651760"/>
            <a:ext cx="10058400" cy="914400"/>
          </a:xfrm>
          <a:prstGeom prst="rect">
            <a:avLst/>
          </a:prstGeom>
          <a:noFill/>
        </p:spPr>
        <p:txBody>
          <a:bodyPr wrap="square" lIns="45720" tIns="18288" rIns="45720" bIns="18288" anchor="t">
            <a:spAutoFit/>
          </a:bodyPr>
          <a:lstStyle/>
          <a:p>
            <a:pPr algn="l"/>
            <a:r>
              <a:rPr sz="7200" b="1">
                <a:solidFill>
                  <a:srgbClr val="FFFFFF"/>
                </a:solidFill>
                <a:latin typeface="Calibri"/>
              </a:rPr>
              <a:t>RTAPS</a:t>
            </a:r>
          </a:p>
        </p:txBody>
      </p:sp>
      <p:sp>
        <p:nvSpPr>
          <p:cNvPr id="5" name="TextBox 4"/>
          <p:cNvSpPr txBox="1"/>
          <p:nvPr/>
        </p:nvSpPr>
        <p:spPr>
          <a:xfrm>
            <a:off x="914400" y="3657600"/>
            <a:ext cx="10058400" cy="914400"/>
          </a:xfrm>
          <a:prstGeom prst="rect">
            <a:avLst/>
          </a:prstGeom>
          <a:noFill/>
        </p:spPr>
        <p:txBody>
          <a:bodyPr wrap="square" lIns="45720" tIns="18288" rIns="45720" bIns="18288" anchor="t">
            <a:spAutoFit/>
          </a:bodyPr>
          <a:lstStyle/>
          <a:p>
            <a:pPr algn="l"/>
            <a:r>
              <a:rPr sz="2800" b="0">
                <a:solidFill>
                  <a:srgbClr val="FBCE07"/>
                </a:solidFill>
                <a:latin typeface="Calibri"/>
              </a:rPr>
              <a:t>Procedures that adapt to your operators</a:t>
            </a:r>
          </a:p>
        </p:txBody>
      </p:sp>
      <p:sp>
        <p:nvSpPr>
          <p:cNvPr id="6" name="TextBox 5"/>
          <p:cNvSpPr txBox="1"/>
          <p:nvPr/>
        </p:nvSpPr>
        <p:spPr>
          <a:xfrm>
            <a:off x="914400" y="4663440"/>
            <a:ext cx="10058400" cy="548640"/>
          </a:xfrm>
          <a:prstGeom prst="rect">
            <a:avLst/>
          </a:prstGeom>
          <a:noFill/>
        </p:spPr>
        <p:txBody>
          <a:bodyPr wrap="square" lIns="45720" tIns="18288" rIns="45720" bIns="18288" anchor="t">
            <a:spAutoFit/>
          </a:bodyPr>
          <a:lstStyle/>
          <a:p>
            <a:pPr algn="l"/>
            <a:r>
              <a:rPr sz="1600" b="0">
                <a:solidFill>
                  <a:srgbClr val="CBD5E1"/>
                </a:solidFill>
                <a:latin typeface="Calibri"/>
              </a:rPr>
              <a:t>Real-Time Adaptive Procedure System  ·  Briefing for the Shell facility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The challenge today</a:t>
            </a:r>
          </a:p>
        </p:txBody>
      </p:sp>
      <p:sp>
        <p:nvSpPr>
          <p:cNvPr id="4" name="TextBox 3"/>
          <p:cNvSpPr txBox="1"/>
          <p:nvPr/>
        </p:nvSpPr>
        <p:spPr>
          <a:xfrm>
            <a:off x="548640" y="1188720"/>
            <a:ext cx="10972800" cy="548640"/>
          </a:xfrm>
          <a:prstGeom prst="rect">
            <a:avLst/>
          </a:prstGeom>
          <a:noFill/>
        </p:spPr>
        <p:txBody>
          <a:bodyPr wrap="square" lIns="45720" tIns="18288" rIns="45720" bIns="18288" anchor="t">
            <a:spAutoFit/>
          </a:bodyPr>
          <a:lstStyle/>
          <a:p>
            <a:pPr algn="l"/>
            <a:r>
              <a:rPr sz="2400" b="1">
                <a:solidFill>
                  <a:srgbClr val="DD1D21"/>
                </a:solidFill>
                <a:latin typeface="Calibri"/>
              </a:rPr>
              <a:t>Every operator is different. Every step is different.</a:t>
            </a:r>
          </a:p>
        </p:txBody>
      </p:sp>
      <p:sp>
        <p:nvSpPr>
          <p:cNvPr id="5" name="TextBox 4"/>
          <p:cNvSpPr txBox="1"/>
          <p:nvPr/>
        </p:nvSpPr>
        <p:spPr>
          <a:xfrm>
            <a:off x="731520" y="2011680"/>
            <a:ext cx="10515600" cy="4114800"/>
          </a:xfrm>
          <a:prstGeom prst="rect">
            <a:avLst/>
          </a:prstGeom>
          <a:noFill/>
        </p:spPr>
        <p:txBody>
          <a:bodyPr wrap="square" lIns="45720" rIns="45720">
            <a:spAutoFit/>
          </a:bodyPr>
          <a:lstStyle/>
          <a:p>
            <a:pPr algn="l">
              <a:spcAft>
                <a:spcPts val="800"/>
              </a:spcAft>
            </a:pPr>
            <a:r>
              <a:rPr sz="2000">
                <a:solidFill>
                  <a:srgbClr val="1F2937"/>
                </a:solidFill>
                <a:latin typeface="Calibri"/>
              </a:rPr>
              <a:t>•  Some procedure steps are routine; others demand intense focus.</a:t>
            </a:r>
          </a:p>
          <a:p>
            <a:pPr algn="l">
              <a:spcAft>
                <a:spcPts val="800"/>
              </a:spcAft>
            </a:pPr>
            <a:r>
              <a:rPr sz="2000">
                <a:solidFill>
                  <a:srgbClr val="1F2937"/>
                </a:solidFill>
                <a:latin typeface="Calibri"/>
              </a:rPr>
              <a:t>•  The same operator can struggle on Step 6 today and breeze through it tomorrow.</a:t>
            </a:r>
          </a:p>
          <a:p>
            <a:pPr algn="l">
              <a:spcAft>
                <a:spcPts val="800"/>
              </a:spcAft>
            </a:pPr>
            <a:r>
              <a:rPr sz="2000">
                <a:solidFill>
                  <a:srgbClr val="1F2937"/>
                </a:solidFill>
                <a:latin typeface="Calibri"/>
              </a:rPr>
              <a:t>•  New operators need more detail. Experienced operators don't want clutter.</a:t>
            </a:r>
          </a:p>
          <a:p>
            <a:pPr algn="l">
              <a:spcAft>
                <a:spcPts val="800"/>
              </a:spcAft>
            </a:pPr>
            <a:r>
              <a:rPr sz="2000">
                <a:solidFill>
                  <a:srgbClr val="1F2937"/>
                </a:solidFill>
                <a:latin typeface="Calibri"/>
              </a:rPr>
              <a:t>•  Today's displays show the same instructions to everyone, every time.</a:t>
            </a:r>
          </a:p>
        </p:txBody>
      </p:sp>
      <p:sp>
        <p:nvSpPr>
          <p:cNvPr id="6" name="TextBox 5"/>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7" name="TextBox 6"/>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2 /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The RTAPS idea, in one sentence</a:t>
            </a:r>
          </a:p>
        </p:txBody>
      </p:sp>
      <p:sp>
        <p:nvSpPr>
          <p:cNvPr id="4" name="Rectangle 3"/>
          <p:cNvSpPr/>
          <p:nvPr/>
        </p:nvSpPr>
        <p:spPr>
          <a:xfrm>
            <a:off x="1097280" y="2194560"/>
            <a:ext cx="9966960" cy="2377440"/>
          </a:xfrm>
          <a:prstGeom prst="rect">
            <a:avLst/>
          </a:prstGeom>
          <a:solidFill>
            <a:srgbClr val="F1F5F9"/>
          </a:solidFill>
          <a:ln w="3810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63040" y="2468880"/>
            <a:ext cx="9144000" cy="1828800"/>
          </a:xfrm>
          <a:prstGeom prst="rect">
            <a:avLst/>
          </a:prstGeom>
          <a:noFill/>
        </p:spPr>
        <p:txBody>
          <a:bodyPr wrap="square" lIns="45720" tIns="18288" rIns="45720" bIns="18288" anchor="ctr">
            <a:spAutoFit/>
          </a:bodyPr>
          <a:lstStyle/>
          <a:p>
            <a:pPr algn="l"/>
            <a:r>
              <a:rPr sz="2800" b="1">
                <a:solidFill>
                  <a:srgbClr val="1F2937"/>
                </a:solidFill>
                <a:latin typeface="Calibri"/>
              </a:rPr>
              <a:t>The screen quietly senses when the operator is working hard, and shows them more help right at that moment.</a:t>
            </a:r>
          </a:p>
        </p:txBody>
      </p:sp>
      <p:sp>
        <p:nvSpPr>
          <p:cNvPr id="6" name="TextBox 5"/>
          <p:cNvSpPr txBox="1"/>
          <p:nvPr/>
        </p:nvSpPr>
        <p:spPr>
          <a:xfrm>
            <a:off x="1463040" y="4937760"/>
            <a:ext cx="9144000" cy="1280160"/>
          </a:xfrm>
          <a:prstGeom prst="rect">
            <a:avLst/>
          </a:prstGeom>
          <a:noFill/>
        </p:spPr>
        <p:txBody>
          <a:bodyPr wrap="square" lIns="45720" rIns="45720">
            <a:spAutoFit/>
          </a:bodyPr>
          <a:lstStyle/>
          <a:p>
            <a:pPr algn="l">
              <a:spcAft>
                <a:spcPts val="800"/>
              </a:spcAft>
            </a:pPr>
            <a:r>
              <a:rPr sz="1800">
                <a:solidFill>
                  <a:srgbClr val="556575"/>
                </a:solidFill>
                <a:latin typeface="Calibri"/>
              </a:rPr>
              <a:t>•  No buttons to press</a:t>
            </a:r>
          </a:p>
          <a:p>
            <a:pPr algn="l">
              <a:spcAft>
                <a:spcPts val="800"/>
              </a:spcAft>
            </a:pPr>
            <a:r>
              <a:rPr sz="1800">
                <a:solidFill>
                  <a:srgbClr val="556575"/>
                </a:solidFill>
                <a:latin typeface="Calibri"/>
              </a:rPr>
              <a:t>•  No questions to answer</a:t>
            </a:r>
          </a:p>
          <a:p>
            <a:pPr algn="l">
              <a:spcAft>
                <a:spcPts val="800"/>
              </a:spcAft>
            </a:pPr>
            <a:r>
              <a:rPr sz="1800">
                <a:solidFill>
                  <a:srgbClr val="556575"/>
                </a:solidFill>
                <a:latin typeface="Calibri"/>
              </a:rPr>
              <a:t>•  No interruptions</a:t>
            </a:r>
          </a:p>
        </p:txBody>
      </p:sp>
      <p:sp>
        <p:nvSpPr>
          <p:cNvPr id="7" name="TextBox 6"/>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8" name="TextBox 7"/>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3 / 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How does the system know? It watches the eyes.</a:t>
            </a:r>
          </a:p>
        </p:txBody>
      </p:sp>
      <p:sp>
        <p:nvSpPr>
          <p:cNvPr id="4" name="TextBox 3"/>
          <p:cNvSpPr txBox="1"/>
          <p:nvPr/>
        </p:nvSpPr>
        <p:spPr>
          <a:xfrm>
            <a:off x="548640" y="1188720"/>
            <a:ext cx="10972800" cy="548640"/>
          </a:xfrm>
          <a:prstGeom prst="rect">
            <a:avLst/>
          </a:prstGeom>
          <a:noFill/>
        </p:spPr>
        <p:txBody>
          <a:bodyPr wrap="square" lIns="45720" tIns="18288" rIns="45720" bIns="18288" anchor="t">
            <a:spAutoFit/>
          </a:bodyPr>
          <a:lstStyle/>
          <a:p>
            <a:pPr algn="l"/>
            <a:r>
              <a:rPr sz="2000" b="0">
                <a:solidFill>
                  <a:srgbClr val="556575"/>
                </a:solidFill>
                <a:latin typeface="Calibri"/>
              </a:rPr>
              <a:t>The eyes give away how hard the mind is working.</a:t>
            </a:r>
          </a:p>
        </p:txBody>
      </p:sp>
      <p:sp>
        <p:nvSpPr>
          <p:cNvPr id="5" name="Rectangle 4"/>
          <p:cNvSpPr/>
          <p:nvPr/>
        </p:nvSpPr>
        <p:spPr>
          <a:xfrm>
            <a:off x="548640" y="2011680"/>
            <a:ext cx="5303520" cy="178308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48840"/>
            <a:ext cx="4846320" cy="457200"/>
          </a:xfrm>
          <a:prstGeom prst="rect">
            <a:avLst/>
          </a:prstGeom>
          <a:noFill/>
        </p:spPr>
        <p:txBody>
          <a:bodyPr wrap="square" lIns="45720" tIns="18288" rIns="45720" bIns="18288" anchor="t">
            <a:spAutoFit/>
          </a:bodyPr>
          <a:lstStyle/>
          <a:p>
            <a:pPr algn="l"/>
            <a:r>
              <a:rPr sz="2000" b="1">
                <a:solidFill>
                  <a:srgbClr val="DD1D21"/>
                </a:solidFill>
                <a:latin typeface="Calibri"/>
              </a:rPr>
              <a:t>Pupil size grows</a:t>
            </a:r>
          </a:p>
        </p:txBody>
      </p:sp>
      <p:sp>
        <p:nvSpPr>
          <p:cNvPr id="7" name="TextBox 6"/>
          <p:cNvSpPr txBox="1"/>
          <p:nvPr/>
        </p:nvSpPr>
        <p:spPr>
          <a:xfrm>
            <a:off x="777240" y="2697480"/>
            <a:ext cx="4846320" cy="1005840"/>
          </a:xfrm>
          <a:prstGeom prst="rect">
            <a:avLst/>
          </a:prstGeom>
          <a:noFill/>
        </p:spPr>
        <p:txBody>
          <a:bodyPr wrap="square" lIns="45720" tIns="18288" rIns="45720" bIns="18288" anchor="t">
            <a:spAutoFit/>
          </a:bodyPr>
          <a:lstStyle/>
          <a:p>
            <a:pPr algn="l"/>
            <a:r>
              <a:rPr sz="1400" b="0">
                <a:solidFill>
                  <a:srgbClr val="1F2937"/>
                </a:solidFill>
                <a:latin typeface="Calibri"/>
              </a:rPr>
              <a:t>When you concentrate, your pupils dilate slightly — like a camera lens opening in low light.</a:t>
            </a:r>
          </a:p>
        </p:txBody>
      </p:sp>
      <p:sp>
        <p:nvSpPr>
          <p:cNvPr id="8" name="Rectangle 7"/>
          <p:cNvSpPr/>
          <p:nvPr/>
        </p:nvSpPr>
        <p:spPr>
          <a:xfrm>
            <a:off x="6309360" y="2011680"/>
            <a:ext cx="5303520" cy="178308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2148840"/>
            <a:ext cx="4846320" cy="457200"/>
          </a:xfrm>
          <a:prstGeom prst="rect">
            <a:avLst/>
          </a:prstGeom>
          <a:noFill/>
        </p:spPr>
        <p:txBody>
          <a:bodyPr wrap="square" lIns="45720" tIns="18288" rIns="45720" bIns="18288" anchor="t">
            <a:spAutoFit/>
          </a:bodyPr>
          <a:lstStyle/>
          <a:p>
            <a:pPr algn="l"/>
            <a:r>
              <a:rPr sz="2000" b="1">
                <a:solidFill>
                  <a:srgbClr val="DD1D21"/>
                </a:solidFill>
                <a:latin typeface="Calibri"/>
              </a:rPr>
              <a:t>Blinking slows down</a:t>
            </a:r>
          </a:p>
        </p:txBody>
      </p:sp>
      <p:sp>
        <p:nvSpPr>
          <p:cNvPr id="10" name="TextBox 9"/>
          <p:cNvSpPr txBox="1"/>
          <p:nvPr/>
        </p:nvSpPr>
        <p:spPr>
          <a:xfrm>
            <a:off x="6537960" y="2697480"/>
            <a:ext cx="4846320" cy="1005840"/>
          </a:xfrm>
          <a:prstGeom prst="rect">
            <a:avLst/>
          </a:prstGeom>
          <a:noFill/>
        </p:spPr>
        <p:txBody>
          <a:bodyPr wrap="square" lIns="45720" tIns="18288" rIns="45720" bIns="18288" anchor="t">
            <a:spAutoFit/>
          </a:bodyPr>
          <a:lstStyle/>
          <a:p>
            <a:pPr algn="l"/>
            <a:r>
              <a:rPr sz="1400" b="0">
                <a:solidFill>
                  <a:srgbClr val="1F2937"/>
                </a:solidFill>
                <a:latin typeface="Calibri"/>
              </a:rPr>
              <a:t>During deep focus, your blink rate drops measurably.</a:t>
            </a:r>
          </a:p>
        </p:txBody>
      </p:sp>
      <p:sp>
        <p:nvSpPr>
          <p:cNvPr id="11" name="Rectangle 10"/>
          <p:cNvSpPr/>
          <p:nvPr/>
        </p:nvSpPr>
        <p:spPr>
          <a:xfrm>
            <a:off x="548640" y="4023360"/>
            <a:ext cx="5303520" cy="178308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4160520"/>
            <a:ext cx="4846320" cy="457200"/>
          </a:xfrm>
          <a:prstGeom prst="rect">
            <a:avLst/>
          </a:prstGeom>
          <a:noFill/>
        </p:spPr>
        <p:txBody>
          <a:bodyPr wrap="square" lIns="45720" tIns="18288" rIns="45720" bIns="18288" anchor="t">
            <a:spAutoFit/>
          </a:bodyPr>
          <a:lstStyle/>
          <a:p>
            <a:pPr algn="l"/>
            <a:r>
              <a:rPr sz="2000" b="1">
                <a:solidFill>
                  <a:srgbClr val="DD1D21"/>
                </a:solidFill>
                <a:latin typeface="Calibri"/>
              </a:rPr>
              <a:t>Fixation length</a:t>
            </a:r>
          </a:p>
        </p:txBody>
      </p:sp>
      <p:sp>
        <p:nvSpPr>
          <p:cNvPr id="13" name="TextBox 12"/>
          <p:cNvSpPr txBox="1"/>
          <p:nvPr/>
        </p:nvSpPr>
        <p:spPr>
          <a:xfrm>
            <a:off x="777240" y="4709160"/>
            <a:ext cx="4846320" cy="1005840"/>
          </a:xfrm>
          <a:prstGeom prst="rect">
            <a:avLst/>
          </a:prstGeom>
          <a:noFill/>
        </p:spPr>
        <p:txBody>
          <a:bodyPr wrap="square" lIns="45720" tIns="18288" rIns="45720" bIns="18288" anchor="t">
            <a:spAutoFit/>
          </a:bodyPr>
          <a:lstStyle/>
          <a:p>
            <a:pPr algn="l"/>
            <a:r>
              <a:rPr sz="1400" b="0">
                <a:solidFill>
                  <a:srgbClr val="1F2937"/>
                </a:solidFill>
                <a:latin typeface="Calibri"/>
              </a:rPr>
              <a:t>On hard tasks, your eyes hold still longer on one spot.</a:t>
            </a:r>
          </a:p>
        </p:txBody>
      </p:sp>
      <p:sp>
        <p:nvSpPr>
          <p:cNvPr id="14" name="Rectangle 13"/>
          <p:cNvSpPr/>
          <p:nvPr/>
        </p:nvSpPr>
        <p:spPr>
          <a:xfrm>
            <a:off x="6309360" y="4023360"/>
            <a:ext cx="5303520" cy="178308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4160520"/>
            <a:ext cx="4846320" cy="457200"/>
          </a:xfrm>
          <a:prstGeom prst="rect">
            <a:avLst/>
          </a:prstGeom>
          <a:noFill/>
        </p:spPr>
        <p:txBody>
          <a:bodyPr wrap="square" lIns="45720" tIns="18288" rIns="45720" bIns="18288" anchor="t">
            <a:spAutoFit/>
          </a:bodyPr>
          <a:lstStyle/>
          <a:p>
            <a:pPr algn="l"/>
            <a:r>
              <a:rPr sz="2000" b="1">
                <a:solidFill>
                  <a:srgbClr val="DD1D21"/>
                </a:solidFill>
                <a:latin typeface="Calibri"/>
              </a:rPr>
              <a:t>Gaze steadiness</a:t>
            </a:r>
          </a:p>
        </p:txBody>
      </p:sp>
      <p:sp>
        <p:nvSpPr>
          <p:cNvPr id="16" name="TextBox 15"/>
          <p:cNvSpPr txBox="1"/>
          <p:nvPr/>
        </p:nvSpPr>
        <p:spPr>
          <a:xfrm>
            <a:off x="6537960" y="4709160"/>
            <a:ext cx="4846320" cy="1005840"/>
          </a:xfrm>
          <a:prstGeom prst="rect">
            <a:avLst/>
          </a:prstGeom>
          <a:noFill/>
        </p:spPr>
        <p:txBody>
          <a:bodyPr wrap="square" lIns="45720" tIns="18288" rIns="45720" bIns="18288" anchor="t">
            <a:spAutoFit/>
          </a:bodyPr>
          <a:lstStyle/>
          <a:p>
            <a:pPr algn="l"/>
            <a:r>
              <a:rPr sz="1400" b="0">
                <a:solidFill>
                  <a:srgbClr val="1F2937"/>
                </a:solidFill>
                <a:latin typeface="Calibri"/>
              </a:rPr>
              <a:t>When you're searching or confused, your gaze becomes shaky.</a:t>
            </a:r>
          </a:p>
        </p:txBody>
      </p:sp>
      <p:sp>
        <p:nvSpPr>
          <p:cNvPr id="17" name="TextBox 16"/>
          <p:cNvSpPr txBox="1"/>
          <p:nvPr/>
        </p:nvSpPr>
        <p:spPr>
          <a:xfrm>
            <a:off x="548640" y="5943600"/>
            <a:ext cx="10972800" cy="365760"/>
          </a:xfrm>
          <a:prstGeom prst="rect">
            <a:avLst/>
          </a:prstGeom>
          <a:noFill/>
        </p:spPr>
        <p:txBody>
          <a:bodyPr wrap="square" lIns="45720" tIns="18288" rIns="45720" bIns="18288" anchor="t">
            <a:spAutoFit/>
          </a:bodyPr>
          <a:lstStyle/>
          <a:p>
            <a:pPr algn="ctr"/>
            <a:r>
              <a:rPr sz="1300" b="0">
                <a:solidFill>
                  <a:srgbClr val="556575"/>
                </a:solidFill>
                <a:latin typeface="Calibri"/>
              </a:rPr>
              <a:t>Used by pilots, surgeons, and air-traffic controllers for over 40 years.</a:t>
            </a:r>
          </a:p>
        </p:txBody>
      </p:sp>
      <p:sp>
        <p:nvSpPr>
          <p:cNvPr id="18" name="TextBox 17"/>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19" name="TextBox 18"/>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4 / 17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The hardware: a pair of eye-tracking glasses</a:t>
            </a:r>
          </a:p>
        </p:txBody>
      </p:sp>
      <p:sp>
        <p:nvSpPr>
          <p:cNvPr id="4" name="TextBox 3"/>
          <p:cNvSpPr txBox="1"/>
          <p:nvPr/>
        </p:nvSpPr>
        <p:spPr>
          <a:xfrm>
            <a:off x="548640" y="1371600"/>
            <a:ext cx="5852160" cy="1785104"/>
          </a:xfrm>
          <a:prstGeom prst="rect">
            <a:avLst/>
          </a:prstGeom>
          <a:noFill/>
        </p:spPr>
        <p:txBody>
          <a:bodyPr wrap="square" lIns="45720" rIns="45720">
            <a:spAutoFit/>
          </a:bodyPr>
          <a:lstStyle/>
          <a:p>
            <a:pPr algn="l">
              <a:spcAft>
                <a:spcPts val="800"/>
              </a:spcAft>
            </a:pPr>
            <a:r>
              <a:rPr sz="1800" dirty="0">
                <a:solidFill>
                  <a:srgbClr val="1F2937"/>
                </a:solidFill>
                <a:latin typeface="Calibri"/>
              </a:rPr>
              <a:t>•  Off-the-shelf product from Pupil Labs (research-grade, lightweight)</a:t>
            </a:r>
          </a:p>
          <a:p>
            <a:pPr algn="l">
              <a:spcAft>
                <a:spcPts val="800"/>
              </a:spcAft>
            </a:pPr>
            <a:r>
              <a:rPr sz="1800" dirty="0">
                <a:solidFill>
                  <a:srgbClr val="1F2937"/>
                </a:solidFill>
                <a:latin typeface="Calibri"/>
              </a:rPr>
              <a:t>•  Looks like ordinary safety glasses with two tiny cameras</a:t>
            </a:r>
          </a:p>
          <a:p>
            <a:pPr algn="l">
              <a:spcAft>
                <a:spcPts val="800"/>
              </a:spcAft>
            </a:pPr>
            <a:r>
              <a:rPr sz="1800" dirty="0">
                <a:solidFill>
                  <a:srgbClr val="1F2937"/>
                </a:solidFill>
                <a:latin typeface="Calibri"/>
              </a:rPr>
              <a:t>•  Plugs into a laptop via USB</a:t>
            </a:r>
          </a:p>
          <a:p>
            <a:pPr algn="l">
              <a:spcAft>
                <a:spcPts val="800"/>
              </a:spcAft>
            </a:pPr>
            <a:r>
              <a:rPr sz="1800" dirty="0">
                <a:solidFill>
                  <a:srgbClr val="1F2937"/>
                </a:solidFill>
                <a:latin typeface="Calibri"/>
              </a:rPr>
              <a:t>•  Operator can walk, move, and talk normally</a:t>
            </a:r>
          </a:p>
        </p:txBody>
      </p:sp>
      <p:sp>
        <p:nvSpPr>
          <p:cNvPr id="5" name="Rectangle 4"/>
          <p:cNvSpPr/>
          <p:nvPr/>
        </p:nvSpPr>
        <p:spPr>
          <a:xfrm>
            <a:off x="6766560" y="1884823"/>
            <a:ext cx="4937760" cy="3088353"/>
          </a:xfrm>
          <a:prstGeom prst="rect">
            <a:avLst/>
          </a:prstGeom>
          <a:solidFill>
            <a:srgbClr val="FFFFFF"/>
          </a:solidFill>
          <a:ln w="9525">
            <a:solidFill>
              <a:srgbClr val="556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creenshot 2026-05-13 153643.png"/>
          <p:cNvPicPr>
            <a:picLocks noChangeAspect="1"/>
          </p:cNvPicPr>
          <p:nvPr/>
        </p:nvPicPr>
        <p:blipFill>
          <a:blip r:embed="rId3"/>
          <a:stretch>
            <a:fillRect/>
          </a:stretch>
        </p:blipFill>
        <p:spPr>
          <a:xfrm>
            <a:off x="6766560" y="1884823"/>
            <a:ext cx="4937760" cy="3088353"/>
          </a:xfrm>
          <a:prstGeom prst="rect">
            <a:avLst/>
          </a:prstGeom>
        </p:spPr>
      </p:pic>
      <p:sp>
        <p:nvSpPr>
          <p:cNvPr id="7" name="TextBox 6"/>
          <p:cNvSpPr txBox="1"/>
          <p:nvPr/>
        </p:nvSpPr>
        <p:spPr>
          <a:xfrm>
            <a:off x="6766560" y="5577840"/>
            <a:ext cx="4937760" cy="640080"/>
          </a:xfrm>
          <a:prstGeom prst="rect">
            <a:avLst/>
          </a:prstGeom>
          <a:noFill/>
        </p:spPr>
        <p:txBody>
          <a:bodyPr wrap="square" lIns="45720" tIns="18288" rIns="45720" bIns="18288" anchor="t">
            <a:spAutoFit/>
          </a:bodyPr>
          <a:lstStyle/>
          <a:p>
            <a:pPr algn="ctr"/>
            <a:r>
              <a:rPr sz="1200" b="0">
                <a:solidFill>
                  <a:srgbClr val="556575"/>
                </a:solidFill>
                <a:latin typeface="Calibri"/>
              </a:rPr>
              <a:t>What the glasses see — the operator never has to look at this screen.</a:t>
            </a:r>
          </a:p>
        </p:txBody>
      </p:sp>
      <p:sp>
        <p:nvSpPr>
          <p:cNvPr id="8" name="TextBox 7"/>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9" name="TextBox 8"/>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5 /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What the operator sees — Step 1: the home screen</a:t>
            </a:r>
          </a:p>
        </p:txBody>
      </p:sp>
      <p:sp>
        <p:nvSpPr>
          <p:cNvPr id="4" name="TextBox 3"/>
          <p:cNvSpPr txBox="1"/>
          <p:nvPr/>
        </p:nvSpPr>
        <p:spPr>
          <a:xfrm>
            <a:off x="548640" y="1371600"/>
            <a:ext cx="4937760" cy="4572000"/>
          </a:xfrm>
          <a:prstGeom prst="rect">
            <a:avLst/>
          </a:prstGeom>
          <a:noFill/>
        </p:spPr>
        <p:txBody>
          <a:bodyPr wrap="square" lIns="45720" rIns="45720">
            <a:spAutoFit/>
          </a:bodyPr>
          <a:lstStyle/>
          <a:p>
            <a:pPr algn="l">
              <a:spcAft>
                <a:spcPts val="800"/>
              </a:spcAft>
            </a:pPr>
            <a:r>
              <a:rPr sz="1800">
                <a:solidFill>
                  <a:srgbClr val="1F2937"/>
                </a:solidFill>
                <a:latin typeface="Calibri"/>
              </a:rPr>
              <a:t>•  Status light shows the system is Ready (green dot)</a:t>
            </a:r>
          </a:p>
          <a:p>
            <a:pPr algn="l">
              <a:spcAft>
                <a:spcPts val="800"/>
              </a:spcAft>
            </a:pPr>
            <a:r>
              <a:rPr sz="1800">
                <a:solidFill>
                  <a:srgbClr val="1F2937"/>
                </a:solidFill>
                <a:latin typeface="Calibri"/>
              </a:rPr>
              <a:t>•  Pick a Train: Train 1 or Train 2</a:t>
            </a:r>
          </a:p>
          <a:p>
            <a:pPr algn="l">
              <a:spcAft>
                <a:spcPts val="800"/>
              </a:spcAft>
            </a:pPr>
            <a:r>
              <a:rPr sz="1800">
                <a:solidFill>
                  <a:srgbClr val="1F2937"/>
                </a:solidFill>
                <a:latin typeface="Calibri"/>
              </a:rPr>
              <a:t>•  Three procedures available</a:t>
            </a:r>
          </a:p>
          <a:p>
            <a:pPr algn="l">
              <a:spcAft>
                <a:spcPts val="800"/>
              </a:spcAft>
            </a:pPr>
            <a:r>
              <a:rPr sz="1800">
                <a:solidFill>
                  <a:srgbClr val="1F2937"/>
                </a:solidFill>
                <a:latin typeface="Calibri"/>
              </a:rPr>
              <a:t>•  One tap to start</a:t>
            </a:r>
          </a:p>
        </p:txBody>
      </p:sp>
      <p:sp>
        <p:nvSpPr>
          <p:cNvPr id="5" name="Rectangle 4"/>
          <p:cNvSpPr/>
          <p:nvPr/>
        </p:nvSpPr>
        <p:spPr>
          <a:xfrm>
            <a:off x="5852160" y="1828514"/>
            <a:ext cx="5852160" cy="3475292"/>
          </a:xfrm>
          <a:prstGeom prst="rect">
            <a:avLst/>
          </a:prstGeom>
          <a:solidFill>
            <a:srgbClr val="FFFFFF"/>
          </a:solidFill>
          <a:ln w="9525">
            <a:solidFill>
              <a:srgbClr val="556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creenshot 2026-05-13 153137.png"/>
          <p:cNvPicPr>
            <a:picLocks noChangeAspect="1"/>
          </p:cNvPicPr>
          <p:nvPr/>
        </p:nvPicPr>
        <p:blipFill>
          <a:blip r:embed="rId3"/>
          <a:stretch>
            <a:fillRect/>
          </a:stretch>
        </p:blipFill>
        <p:spPr>
          <a:xfrm>
            <a:off x="5852160" y="1828514"/>
            <a:ext cx="5852160" cy="3475292"/>
          </a:xfrm>
          <a:prstGeom prst="rect">
            <a:avLst/>
          </a:prstGeom>
        </p:spPr>
      </p:pic>
      <p:sp>
        <p:nvSpPr>
          <p:cNvPr id="7" name="TextBox 6"/>
          <p:cNvSpPr txBox="1"/>
          <p:nvPr/>
        </p:nvSpPr>
        <p:spPr>
          <a:xfrm>
            <a:off x="5852160" y="5852160"/>
            <a:ext cx="5852160" cy="457200"/>
          </a:xfrm>
          <a:prstGeom prst="rect">
            <a:avLst/>
          </a:prstGeom>
          <a:noFill/>
        </p:spPr>
        <p:txBody>
          <a:bodyPr wrap="square" lIns="45720" tIns="18288" rIns="45720" bIns="18288" anchor="t">
            <a:spAutoFit/>
          </a:bodyPr>
          <a:lstStyle/>
          <a:p>
            <a:pPr algn="ctr"/>
            <a:r>
              <a:rPr sz="1200" b="0">
                <a:solidFill>
                  <a:srgbClr val="556575"/>
                </a:solidFill>
                <a:latin typeface="Calibri"/>
              </a:rPr>
              <a:t>Clean, uncluttered. Everything else is one click away.</a:t>
            </a:r>
          </a:p>
        </p:txBody>
      </p:sp>
      <p:sp>
        <p:nvSpPr>
          <p:cNvPr id="8" name="TextBox 7"/>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9" name="TextBox 8"/>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6 / 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Three procedures supported today, both trains</a:t>
            </a:r>
          </a:p>
        </p:txBody>
      </p:sp>
      <p:sp>
        <p:nvSpPr>
          <p:cNvPr id="4" name="Rectangle 3"/>
          <p:cNvSpPr/>
          <p:nvPr/>
        </p:nvSpPr>
        <p:spPr>
          <a:xfrm>
            <a:off x="548640" y="1463040"/>
            <a:ext cx="3200400" cy="548640"/>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63040"/>
            <a:ext cx="2926080" cy="548640"/>
          </a:xfrm>
          <a:prstGeom prst="rect">
            <a:avLst/>
          </a:prstGeom>
          <a:noFill/>
        </p:spPr>
        <p:txBody>
          <a:bodyPr wrap="square" lIns="45720" tIns="18288" rIns="45720" bIns="18288" anchor="ctr">
            <a:spAutoFit/>
          </a:bodyPr>
          <a:lstStyle/>
          <a:p>
            <a:pPr algn="l"/>
            <a:r>
              <a:rPr sz="1600" b="1">
                <a:solidFill>
                  <a:srgbClr val="FFFFFF"/>
                </a:solidFill>
                <a:latin typeface="Calibri"/>
              </a:rPr>
              <a:t>Procedure</a:t>
            </a:r>
          </a:p>
        </p:txBody>
      </p:sp>
      <p:sp>
        <p:nvSpPr>
          <p:cNvPr id="6" name="Rectangle 5"/>
          <p:cNvSpPr/>
          <p:nvPr/>
        </p:nvSpPr>
        <p:spPr>
          <a:xfrm>
            <a:off x="3749040" y="1463040"/>
            <a:ext cx="1097280" cy="548640"/>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86200" y="1463040"/>
            <a:ext cx="822960" cy="548640"/>
          </a:xfrm>
          <a:prstGeom prst="rect">
            <a:avLst/>
          </a:prstGeom>
          <a:noFill/>
        </p:spPr>
        <p:txBody>
          <a:bodyPr wrap="square" lIns="45720" tIns="18288" rIns="45720" bIns="18288" anchor="ctr">
            <a:spAutoFit/>
          </a:bodyPr>
          <a:lstStyle/>
          <a:p>
            <a:pPr algn="l"/>
            <a:r>
              <a:rPr sz="1600" b="1">
                <a:solidFill>
                  <a:srgbClr val="FFFFFF"/>
                </a:solidFill>
                <a:latin typeface="Calibri"/>
              </a:rPr>
              <a:t>Steps</a:t>
            </a:r>
          </a:p>
        </p:txBody>
      </p:sp>
      <p:sp>
        <p:nvSpPr>
          <p:cNvPr id="8" name="Rectangle 7"/>
          <p:cNvSpPr/>
          <p:nvPr/>
        </p:nvSpPr>
        <p:spPr>
          <a:xfrm>
            <a:off x="4846320" y="1463040"/>
            <a:ext cx="6858000" cy="548640"/>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83480" y="1463040"/>
            <a:ext cx="6583680" cy="548640"/>
          </a:xfrm>
          <a:prstGeom prst="rect">
            <a:avLst/>
          </a:prstGeom>
          <a:noFill/>
        </p:spPr>
        <p:txBody>
          <a:bodyPr wrap="square" lIns="45720" tIns="18288" rIns="45720" bIns="18288" anchor="ctr">
            <a:spAutoFit/>
          </a:bodyPr>
          <a:lstStyle/>
          <a:p>
            <a:pPr algn="l"/>
            <a:r>
              <a:rPr sz="1600" b="1">
                <a:solidFill>
                  <a:srgbClr val="FFFFFF"/>
                </a:solidFill>
                <a:latin typeface="Calibri"/>
              </a:rPr>
              <a:t>What it does</a:t>
            </a:r>
          </a:p>
        </p:txBody>
      </p:sp>
      <p:sp>
        <p:nvSpPr>
          <p:cNvPr id="10" name="Rectangle 9"/>
          <p:cNvSpPr/>
          <p:nvPr/>
        </p:nvSpPr>
        <p:spPr>
          <a:xfrm>
            <a:off x="548640" y="2011680"/>
            <a:ext cx="3200400" cy="548640"/>
          </a:xfrm>
          <a:prstGeom prst="rect">
            <a:avLst/>
          </a:prstGeom>
          <a:solidFill>
            <a:srgbClr val="F8FAFC"/>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011680"/>
            <a:ext cx="2926080" cy="548640"/>
          </a:xfrm>
          <a:prstGeom prst="rect">
            <a:avLst/>
          </a:prstGeom>
          <a:noFill/>
        </p:spPr>
        <p:txBody>
          <a:bodyPr wrap="square" lIns="45720" tIns="18288" rIns="45720" bIns="18288" anchor="ctr">
            <a:spAutoFit/>
          </a:bodyPr>
          <a:lstStyle/>
          <a:p>
            <a:pPr algn="l"/>
            <a:r>
              <a:rPr sz="1500" b="1">
                <a:solidFill>
                  <a:srgbClr val="1F2937"/>
                </a:solidFill>
                <a:latin typeface="Calibri"/>
              </a:rPr>
              <a:t>Centrifuge testing</a:t>
            </a:r>
          </a:p>
        </p:txBody>
      </p:sp>
      <p:sp>
        <p:nvSpPr>
          <p:cNvPr id="12" name="Rectangle 11"/>
          <p:cNvSpPr/>
          <p:nvPr/>
        </p:nvSpPr>
        <p:spPr>
          <a:xfrm>
            <a:off x="3749040" y="2011680"/>
            <a:ext cx="1097280" cy="548640"/>
          </a:xfrm>
          <a:prstGeom prst="rect">
            <a:avLst/>
          </a:prstGeom>
          <a:solidFill>
            <a:srgbClr val="F8FAFC"/>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86200" y="2011680"/>
            <a:ext cx="822960" cy="548640"/>
          </a:xfrm>
          <a:prstGeom prst="rect">
            <a:avLst/>
          </a:prstGeom>
          <a:noFill/>
        </p:spPr>
        <p:txBody>
          <a:bodyPr wrap="square" lIns="45720" tIns="18288" rIns="45720" bIns="18288" anchor="ctr">
            <a:spAutoFit/>
          </a:bodyPr>
          <a:lstStyle/>
          <a:p>
            <a:pPr algn="l"/>
            <a:r>
              <a:rPr sz="1500" b="0">
                <a:solidFill>
                  <a:srgbClr val="1F2937"/>
                </a:solidFill>
                <a:latin typeface="Calibri"/>
              </a:rPr>
              <a:t>8</a:t>
            </a:r>
          </a:p>
        </p:txBody>
      </p:sp>
      <p:sp>
        <p:nvSpPr>
          <p:cNvPr id="14" name="Rectangle 13"/>
          <p:cNvSpPr/>
          <p:nvPr/>
        </p:nvSpPr>
        <p:spPr>
          <a:xfrm>
            <a:off x="4846320" y="2011680"/>
            <a:ext cx="6858000" cy="548640"/>
          </a:xfrm>
          <a:prstGeom prst="rect">
            <a:avLst/>
          </a:prstGeom>
          <a:solidFill>
            <a:srgbClr val="F8FAFC"/>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83480" y="2011680"/>
            <a:ext cx="6583680" cy="548640"/>
          </a:xfrm>
          <a:prstGeom prst="rect">
            <a:avLst/>
          </a:prstGeom>
          <a:noFill/>
        </p:spPr>
        <p:txBody>
          <a:bodyPr wrap="square" lIns="45720" tIns="18288" rIns="45720" bIns="18288" anchor="ctr">
            <a:spAutoFit/>
          </a:bodyPr>
          <a:lstStyle/>
          <a:p>
            <a:pPr algn="l"/>
            <a:r>
              <a:rPr sz="1500" b="0">
                <a:solidFill>
                  <a:srgbClr val="1F2937"/>
                </a:solidFill>
                <a:latin typeface="Calibri"/>
              </a:rPr>
              <a:t>Oil sample BSW analysis</a:t>
            </a:r>
          </a:p>
        </p:txBody>
      </p:sp>
      <p:sp>
        <p:nvSpPr>
          <p:cNvPr id="16" name="Rectangle 15"/>
          <p:cNvSpPr/>
          <p:nvPr/>
        </p:nvSpPr>
        <p:spPr>
          <a:xfrm>
            <a:off x="548640" y="2560320"/>
            <a:ext cx="3200400" cy="548640"/>
          </a:xfrm>
          <a:prstGeom prst="rect">
            <a:avLst/>
          </a:prstGeom>
          <a:solidFill>
            <a:srgbClr val="FFFFFF"/>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560320"/>
            <a:ext cx="2926080" cy="548640"/>
          </a:xfrm>
          <a:prstGeom prst="rect">
            <a:avLst/>
          </a:prstGeom>
          <a:noFill/>
        </p:spPr>
        <p:txBody>
          <a:bodyPr wrap="square" lIns="45720" tIns="18288" rIns="45720" bIns="18288" anchor="ctr">
            <a:spAutoFit/>
          </a:bodyPr>
          <a:lstStyle/>
          <a:p>
            <a:pPr algn="l"/>
            <a:r>
              <a:rPr sz="1500" b="1">
                <a:solidFill>
                  <a:srgbClr val="1F2937"/>
                </a:solidFill>
                <a:latin typeface="Calibri"/>
              </a:rPr>
              <a:t>Column flushing</a:t>
            </a:r>
          </a:p>
        </p:txBody>
      </p:sp>
      <p:sp>
        <p:nvSpPr>
          <p:cNvPr id="18" name="Rectangle 17"/>
          <p:cNvSpPr/>
          <p:nvPr/>
        </p:nvSpPr>
        <p:spPr>
          <a:xfrm>
            <a:off x="3749040" y="2560320"/>
            <a:ext cx="1097280" cy="548640"/>
          </a:xfrm>
          <a:prstGeom prst="rect">
            <a:avLst/>
          </a:prstGeom>
          <a:solidFill>
            <a:srgbClr val="FFFFFF"/>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86200" y="2560320"/>
            <a:ext cx="822960" cy="548640"/>
          </a:xfrm>
          <a:prstGeom prst="rect">
            <a:avLst/>
          </a:prstGeom>
          <a:noFill/>
        </p:spPr>
        <p:txBody>
          <a:bodyPr wrap="square" lIns="45720" tIns="18288" rIns="45720" bIns="18288" anchor="ctr">
            <a:spAutoFit/>
          </a:bodyPr>
          <a:lstStyle/>
          <a:p>
            <a:pPr algn="l"/>
            <a:r>
              <a:rPr sz="1500" b="0">
                <a:solidFill>
                  <a:srgbClr val="1F2937"/>
                </a:solidFill>
                <a:latin typeface="Calibri"/>
              </a:rPr>
              <a:t>14</a:t>
            </a:r>
          </a:p>
        </p:txBody>
      </p:sp>
      <p:sp>
        <p:nvSpPr>
          <p:cNvPr id="20" name="Rectangle 19"/>
          <p:cNvSpPr/>
          <p:nvPr/>
        </p:nvSpPr>
        <p:spPr>
          <a:xfrm>
            <a:off x="4846320" y="2560320"/>
            <a:ext cx="6858000" cy="548640"/>
          </a:xfrm>
          <a:prstGeom prst="rect">
            <a:avLst/>
          </a:prstGeom>
          <a:solidFill>
            <a:srgbClr val="FFFFFF"/>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83480" y="2560320"/>
            <a:ext cx="6583680" cy="548640"/>
          </a:xfrm>
          <a:prstGeom prst="rect">
            <a:avLst/>
          </a:prstGeom>
          <a:noFill/>
        </p:spPr>
        <p:txBody>
          <a:bodyPr wrap="square" lIns="45720" tIns="18288" rIns="45720" bIns="18288" anchor="ctr">
            <a:spAutoFit/>
          </a:bodyPr>
          <a:lstStyle/>
          <a:p>
            <a:pPr algn="l"/>
            <a:r>
              <a:rPr sz="1500" b="0">
                <a:solidFill>
                  <a:srgbClr val="1F2937"/>
                </a:solidFill>
                <a:latin typeface="Calibri"/>
              </a:rPr>
              <a:t>System maintenance</a:t>
            </a:r>
          </a:p>
        </p:txBody>
      </p:sp>
      <p:sp>
        <p:nvSpPr>
          <p:cNvPr id="22" name="Rectangle 21"/>
          <p:cNvSpPr/>
          <p:nvPr/>
        </p:nvSpPr>
        <p:spPr>
          <a:xfrm>
            <a:off x="548640" y="3108960"/>
            <a:ext cx="3200400" cy="548640"/>
          </a:xfrm>
          <a:prstGeom prst="rect">
            <a:avLst/>
          </a:prstGeom>
          <a:solidFill>
            <a:srgbClr val="F8FAFC"/>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3108960"/>
            <a:ext cx="2926080" cy="548640"/>
          </a:xfrm>
          <a:prstGeom prst="rect">
            <a:avLst/>
          </a:prstGeom>
          <a:noFill/>
        </p:spPr>
        <p:txBody>
          <a:bodyPr wrap="square" lIns="45720" tIns="18288" rIns="45720" bIns="18288" anchor="ctr">
            <a:spAutoFit/>
          </a:bodyPr>
          <a:lstStyle/>
          <a:p>
            <a:pPr algn="l"/>
            <a:r>
              <a:rPr sz="1500" b="1">
                <a:solidFill>
                  <a:srgbClr val="1F2937"/>
                </a:solidFill>
                <a:latin typeface="Calibri"/>
              </a:rPr>
              <a:t>Pressure testing</a:t>
            </a:r>
          </a:p>
        </p:txBody>
      </p:sp>
      <p:sp>
        <p:nvSpPr>
          <p:cNvPr id="24" name="Rectangle 23"/>
          <p:cNvSpPr/>
          <p:nvPr/>
        </p:nvSpPr>
        <p:spPr>
          <a:xfrm>
            <a:off x="3749040" y="3108960"/>
            <a:ext cx="1097280" cy="548640"/>
          </a:xfrm>
          <a:prstGeom prst="rect">
            <a:avLst/>
          </a:prstGeom>
          <a:solidFill>
            <a:srgbClr val="F8FAFC"/>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86200" y="3108960"/>
            <a:ext cx="822960" cy="548640"/>
          </a:xfrm>
          <a:prstGeom prst="rect">
            <a:avLst/>
          </a:prstGeom>
          <a:noFill/>
        </p:spPr>
        <p:txBody>
          <a:bodyPr wrap="square" lIns="45720" tIns="18288" rIns="45720" bIns="18288" anchor="ctr">
            <a:spAutoFit/>
          </a:bodyPr>
          <a:lstStyle/>
          <a:p>
            <a:pPr algn="l"/>
            <a:r>
              <a:rPr sz="1500" b="0">
                <a:solidFill>
                  <a:srgbClr val="1F2937"/>
                </a:solidFill>
                <a:latin typeface="Calibri"/>
              </a:rPr>
              <a:t>14</a:t>
            </a:r>
          </a:p>
        </p:txBody>
      </p:sp>
      <p:sp>
        <p:nvSpPr>
          <p:cNvPr id="26" name="Rectangle 25"/>
          <p:cNvSpPr/>
          <p:nvPr/>
        </p:nvSpPr>
        <p:spPr>
          <a:xfrm>
            <a:off x="4846320" y="3108960"/>
            <a:ext cx="6858000" cy="548640"/>
          </a:xfrm>
          <a:prstGeom prst="rect">
            <a:avLst/>
          </a:prstGeom>
          <a:solidFill>
            <a:srgbClr val="F8FAFC"/>
          </a:solidFill>
          <a:ln w="635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83480" y="3108960"/>
            <a:ext cx="6583680" cy="548640"/>
          </a:xfrm>
          <a:prstGeom prst="rect">
            <a:avLst/>
          </a:prstGeom>
          <a:noFill/>
        </p:spPr>
        <p:txBody>
          <a:bodyPr wrap="square" lIns="45720" tIns="18288" rIns="45720" bIns="18288" anchor="ctr">
            <a:spAutoFit/>
          </a:bodyPr>
          <a:lstStyle/>
          <a:p>
            <a:pPr algn="l"/>
            <a:r>
              <a:rPr sz="1500" b="0">
                <a:solidFill>
                  <a:srgbClr val="1F2937"/>
                </a:solidFill>
                <a:latin typeface="Calibri"/>
              </a:rPr>
              <a:t>System validation</a:t>
            </a:r>
          </a:p>
        </p:txBody>
      </p:sp>
      <p:sp>
        <p:nvSpPr>
          <p:cNvPr id="28" name="TextBox 27"/>
          <p:cNvSpPr txBox="1"/>
          <p:nvPr/>
        </p:nvSpPr>
        <p:spPr>
          <a:xfrm>
            <a:off x="548640" y="4206240"/>
            <a:ext cx="10972800" cy="640080"/>
          </a:xfrm>
          <a:prstGeom prst="rect">
            <a:avLst/>
          </a:prstGeom>
          <a:noFill/>
        </p:spPr>
        <p:txBody>
          <a:bodyPr wrap="square" lIns="45720" tIns="18288" rIns="45720" bIns="18288" anchor="t">
            <a:spAutoFit/>
          </a:bodyPr>
          <a:lstStyle/>
          <a:p>
            <a:pPr algn="l"/>
            <a:r>
              <a:rPr sz="1800" b="1">
                <a:solidFill>
                  <a:srgbClr val="DD1D21"/>
                </a:solidFill>
                <a:latin typeface="Calibri"/>
              </a:rPr>
              <a:t>Adding a new procedure is a configuration change — not new software.</a:t>
            </a:r>
          </a:p>
        </p:txBody>
      </p:sp>
      <p:sp>
        <p:nvSpPr>
          <p:cNvPr id="29" name="Rectangle 28"/>
          <p:cNvSpPr/>
          <p:nvPr/>
        </p:nvSpPr>
        <p:spPr>
          <a:xfrm>
            <a:off x="4849368" y="4892040"/>
            <a:ext cx="2462784" cy="1463040"/>
          </a:xfrm>
          <a:prstGeom prst="rect">
            <a:avLst/>
          </a:prstGeom>
          <a:solidFill>
            <a:srgbClr val="FFFFFF"/>
          </a:solidFill>
          <a:ln w="9525">
            <a:solidFill>
              <a:srgbClr val="556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Screenshot 2026-05-13 153149.png"/>
          <p:cNvPicPr>
            <a:picLocks noChangeAspect="1"/>
          </p:cNvPicPr>
          <p:nvPr/>
        </p:nvPicPr>
        <p:blipFill>
          <a:blip r:embed="rId3"/>
          <a:stretch>
            <a:fillRect/>
          </a:stretch>
        </p:blipFill>
        <p:spPr>
          <a:xfrm>
            <a:off x="4849368" y="4892040"/>
            <a:ext cx="2462784" cy="1463040"/>
          </a:xfrm>
          <a:prstGeom prst="rect">
            <a:avLst/>
          </a:prstGeom>
        </p:spPr>
      </p:pic>
      <p:sp>
        <p:nvSpPr>
          <p:cNvPr id="31" name="TextBox 30"/>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32" name="TextBox 31"/>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7 / 17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Step 2: a 2-minute calibration before each procedure</a:t>
            </a:r>
          </a:p>
        </p:txBody>
      </p:sp>
      <p:sp>
        <p:nvSpPr>
          <p:cNvPr id="4" name="TextBox 3"/>
          <p:cNvSpPr txBox="1"/>
          <p:nvPr/>
        </p:nvSpPr>
        <p:spPr>
          <a:xfrm>
            <a:off x="548640" y="1188720"/>
            <a:ext cx="10972800" cy="548640"/>
          </a:xfrm>
          <a:prstGeom prst="rect">
            <a:avLst/>
          </a:prstGeom>
          <a:noFill/>
        </p:spPr>
        <p:txBody>
          <a:bodyPr wrap="square" lIns="45720" tIns="18288" rIns="45720" bIns="18288" anchor="t">
            <a:spAutoFit/>
          </a:bodyPr>
          <a:lstStyle/>
          <a:p>
            <a:pPr algn="l"/>
            <a:r>
              <a:rPr sz="2000" b="0">
                <a:solidFill>
                  <a:srgbClr val="556575"/>
                </a:solidFill>
                <a:latin typeface="Calibri"/>
              </a:rPr>
              <a:t>The system learns what 'calm you' looks like.</a:t>
            </a:r>
          </a:p>
        </p:txBody>
      </p:sp>
      <p:sp>
        <p:nvSpPr>
          <p:cNvPr id="5" name="TextBox 4"/>
          <p:cNvSpPr txBox="1"/>
          <p:nvPr/>
        </p:nvSpPr>
        <p:spPr>
          <a:xfrm>
            <a:off x="548640" y="1920240"/>
            <a:ext cx="5943600" cy="4114800"/>
          </a:xfrm>
          <a:prstGeom prst="rect">
            <a:avLst/>
          </a:prstGeom>
          <a:noFill/>
        </p:spPr>
        <p:txBody>
          <a:bodyPr wrap="square" lIns="45720" rIns="45720">
            <a:spAutoFit/>
          </a:bodyPr>
          <a:lstStyle/>
          <a:p>
            <a:pPr algn="l">
              <a:spcAft>
                <a:spcPts val="800"/>
              </a:spcAft>
            </a:pPr>
            <a:r>
              <a:rPr sz="1600">
                <a:solidFill>
                  <a:srgbClr val="1F2937"/>
                </a:solidFill>
                <a:latin typeface="Calibri"/>
              </a:rPr>
              <a:t>•  Operator sees a black screen with a single white '+' symbol</a:t>
            </a:r>
          </a:p>
          <a:p>
            <a:pPr algn="l">
              <a:spcAft>
                <a:spcPts val="800"/>
              </a:spcAft>
            </a:pPr>
            <a:r>
              <a:rPr sz="1600">
                <a:solidFill>
                  <a:srgbClr val="1F2937"/>
                </a:solidFill>
                <a:latin typeface="Calibri"/>
              </a:rPr>
              <a:t>•  They sit and look at it for 2 minutes</a:t>
            </a:r>
          </a:p>
          <a:p>
            <a:pPr algn="l">
              <a:spcAft>
                <a:spcPts val="800"/>
              </a:spcAft>
            </a:pPr>
            <a:r>
              <a:rPr sz="1600">
                <a:solidFill>
                  <a:srgbClr val="1F2937"/>
                </a:solidFill>
                <a:latin typeface="Calibri"/>
              </a:rPr>
              <a:t>•  Glasses measure their resting pupil size</a:t>
            </a:r>
          </a:p>
          <a:p>
            <a:pPr algn="l">
              <a:spcAft>
                <a:spcPts val="800"/>
              </a:spcAft>
            </a:pPr>
            <a:r>
              <a:rPr sz="1600">
                <a:solidFill>
                  <a:srgbClr val="1F2937"/>
                </a:solidFill>
                <a:latin typeface="Calibri"/>
              </a:rPr>
              <a:t>•  This is the 'you on a good day' baseline</a:t>
            </a:r>
          </a:p>
          <a:p>
            <a:pPr algn="l">
              <a:spcAft>
                <a:spcPts val="800"/>
              </a:spcAft>
            </a:pPr>
            <a:r>
              <a:rPr sz="1600">
                <a:solidFill>
                  <a:srgbClr val="1F2937"/>
                </a:solidFill>
                <a:latin typeface="Calibri"/>
              </a:rPr>
              <a:t>•  Without this, the system can't tell 'this person is stressed' from 'this person just has bigger pupils than average'</a:t>
            </a:r>
          </a:p>
        </p:txBody>
      </p:sp>
      <p:sp>
        <p:nvSpPr>
          <p:cNvPr id="6" name="Rectangle 5"/>
          <p:cNvSpPr/>
          <p:nvPr/>
        </p:nvSpPr>
        <p:spPr>
          <a:xfrm>
            <a:off x="6766560" y="1920240"/>
            <a:ext cx="4937760" cy="36576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0" y="2468880"/>
            <a:ext cx="4937760" cy="1828800"/>
          </a:xfrm>
          <a:prstGeom prst="rect">
            <a:avLst/>
          </a:prstGeom>
          <a:noFill/>
        </p:spPr>
        <p:txBody>
          <a:bodyPr wrap="square" lIns="45720" tIns="18288" rIns="45720" bIns="18288" anchor="ctr">
            <a:spAutoFit/>
          </a:bodyPr>
          <a:lstStyle/>
          <a:p>
            <a:pPr algn="ctr"/>
            <a:r>
              <a:rPr sz="12000" b="1">
                <a:solidFill>
                  <a:srgbClr val="FFFFFF"/>
                </a:solidFill>
                <a:latin typeface="Calibri"/>
              </a:rPr>
              <a:t>+</a:t>
            </a:r>
          </a:p>
        </p:txBody>
      </p:sp>
      <p:sp>
        <p:nvSpPr>
          <p:cNvPr id="8" name="TextBox 7"/>
          <p:cNvSpPr txBox="1"/>
          <p:nvPr/>
        </p:nvSpPr>
        <p:spPr>
          <a:xfrm>
            <a:off x="6766560" y="4206240"/>
            <a:ext cx="4937760" cy="548640"/>
          </a:xfrm>
          <a:prstGeom prst="rect">
            <a:avLst/>
          </a:prstGeom>
          <a:noFill/>
        </p:spPr>
        <p:txBody>
          <a:bodyPr wrap="square" lIns="45720" tIns="18288" rIns="45720" bIns="18288" anchor="t">
            <a:spAutoFit/>
          </a:bodyPr>
          <a:lstStyle/>
          <a:p>
            <a:pPr algn="ctr"/>
            <a:r>
              <a:rPr sz="3200" b="1">
                <a:solidFill>
                  <a:srgbClr val="FBCE07"/>
                </a:solidFill>
                <a:latin typeface="Calibri"/>
              </a:rPr>
              <a:t>01:47</a:t>
            </a:r>
          </a:p>
        </p:txBody>
      </p:sp>
      <p:sp>
        <p:nvSpPr>
          <p:cNvPr id="9" name="TextBox 8"/>
          <p:cNvSpPr txBox="1"/>
          <p:nvPr/>
        </p:nvSpPr>
        <p:spPr>
          <a:xfrm>
            <a:off x="6766560" y="4754880"/>
            <a:ext cx="4937760" cy="365760"/>
          </a:xfrm>
          <a:prstGeom prst="rect">
            <a:avLst/>
          </a:prstGeom>
          <a:noFill/>
        </p:spPr>
        <p:txBody>
          <a:bodyPr wrap="square" lIns="45720" tIns="18288" rIns="45720" bIns="18288" anchor="t">
            <a:spAutoFit/>
          </a:bodyPr>
          <a:lstStyle/>
          <a:p>
            <a:pPr algn="ctr"/>
            <a:r>
              <a:rPr sz="1200" b="0">
                <a:solidFill>
                  <a:srgbClr val="CBD5E1"/>
                </a:solidFill>
                <a:latin typeface="Calibri"/>
              </a:rPr>
              <a:t>73 / 120 seconds collected</a:t>
            </a:r>
          </a:p>
        </p:txBody>
      </p:sp>
      <p:sp>
        <p:nvSpPr>
          <p:cNvPr id="10" name="TextBox 9"/>
          <p:cNvSpPr txBox="1"/>
          <p:nvPr/>
        </p:nvSpPr>
        <p:spPr>
          <a:xfrm>
            <a:off x="548640" y="5943600"/>
            <a:ext cx="10972800" cy="457200"/>
          </a:xfrm>
          <a:prstGeom prst="rect">
            <a:avLst/>
          </a:prstGeom>
          <a:noFill/>
        </p:spPr>
        <p:txBody>
          <a:bodyPr wrap="square" lIns="45720" tIns="18288" rIns="45720" bIns="18288" anchor="t">
            <a:spAutoFit/>
          </a:bodyPr>
          <a:lstStyle/>
          <a:p>
            <a:pPr algn="ctr"/>
            <a:r>
              <a:rPr sz="1400" b="0">
                <a:solidFill>
                  <a:srgbClr val="556575"/>
                </a:solidFill>
                <a:latin typeface="Calibri"/>
              </a:rPr>
              <a:t>Like tuning a guitar before playing a song.</a:t>
            </a:r>
          </a:p>
        </p:txBody>
      </p:sp>
      <p:sp>
        <p:nvSpPr>
          <p:cNvPr id="11" name="TextBox 10"/>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12" name="TextBox 11"/>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8 / 17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Step 3: doing the procedure — a familiar checklist</a:t>
            </a:r>
          </a:p>
        </p:txBody>
      </p:sp>
      <p:sp>
        <p:nvSpPr>
          <p:cNvPr id="4" name="TextBox 3"/>
          <p:cNvSpPr txBox="1"/>
          <p:nvPr/>
        </p:nvSpPr>
        <p:spPr>
          <a:xfrm>
            <a:off x="548640" y="1371600"/>
            <a:ext cx="4937760" cy="4572000"/>
          </a:xfrm>
          <a:prstGeom prst="rect">
            <a:avLst/>
          </a:prstGeom>
          <a:noFill/>
        </p:spPr>
        <p:txBody>
          <a:bodyPr wrap="square" lIns="45720" rIns="45720">
            <a:spAutoFit/>
          </a:bodyPr>
          <a:lstStyle/>
          <a:p>
            <a:pPr algn="l">
              <a:spcAft>
                <a:spcPts val="800"/>
              </a:spcAft>
            </a:pPr>
            <a:r>
              <a:rPr sz="1700">
                <a:solidFill>
                  <a:srgbClr val="1F2937"/>
                </a:solidFill>
                <a:latin typeface="Calibri"/>
              </a:rPr>
              <a:t>•  Each step has a number, a clear title, and a short description</a:t>
            </a:r>
          </a:p>
          <a:p>
            <a:pPr algn="l">
              <a:spcAft>
                <a:spcPts val="800"/>
              </a:spcAft>
            </a:pPr>
            <a:r>
              <a:rPr sz="1700">
                <a:solidFill>
                  <a:srgbClr val="1F2937"/>
                </a:solidFill>
                <a:latin typeface="Calibri"/>
              </a:rPr>
              <a:t>•  Tap the box to mark a step complete</a:t>
            </a:r>
          </a:p>
          <a:p>
            <a:pPr algn="l">
              <a:spcAft>
                <a:spcPts val="800"/>
              </a:spcAft>
            </a:pPr>
            <a:r>
              <a:rPr sz="1700">
                <a:solidFill>
                  <a:srgbClr val="1F2937"/>
                </a:solidFill>
                <a:latin typeface="Calibri"/>
              </a:rPr>
              <a:t>•  Time spent on the step is shown in the corner</a:t>
            </a:r>
          </a:p>
          <a:p>
            <a:pPr algn="l">
              <a:spcAft>
                <a:spcPts val="800"/>
              </a:spcAft>
            </a:pPr>
            <a:r>
              <a:rPr sz="1700">
                <a:solidFill>
                  <a:srgbClr val="1F2937"/>
                </a:solidFill>
                <a:latin typeface="Calibri"/>
              </a:rPr>
              <a:t>•  The next step lights up when the previous is done</a:t>
            </a:r>
          </a:p>
          <a:p>
            <a:pPr algn="l">
              <a:spcAft>
                <a:spcPts val="800"/>
              </a:spcAft>
            </a:pPr>
            <a:r>
              <a:rPr sz="1700">
                <a:solidFill>
                  <a:srgbClr val="1F2937"/>
                </a:solidFill>
                <a:latin typeface="Calibri"/>
              </a:rPr>
              <a:t>•  And — here's the magic — extra guidance appears when needed</a:t>
            </a:r>
          </a:p>
        </p:txBody>
      </p:sp>
      <p:sp>
        <p:nvSpPr>
          <p:cNvPr id="5" name="Rectangle 4"/>
          <p:cNvSpPr/>
          <p:nvPr/>
        </p:nvSpPr>
        <p:spPr>
          <a:xfrm>
            <a:off x="5852160" y="1919335"/>
            <a:ext cx="5852160" cy="3476530"/>
          </a:xfrm>
          <a:prstGeom prst="rect">
            <a:avLst/>
          </a:prstGeom>
          <a:solidFill>
            <a:srgbClr val="FFFFFF"/>
          </a:solidFill>
          <a:ln w="9525">
            <a:solidFill>
              <a:srgbClr val="556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creenshot 2026-05-13 153437.png"/>
          <p:cNvPicPr>
            <a:picLocks noChangeAspect="1"/>
          </p:cNvPicPr>
          <p:nvPr/>
        </p:nvPicPr>
        <p:blipFill>
          <a:blip r:embed="rId3"/>
          <a:stretch>
            <a:fillRect/>
          </a:stretch>
        </p:blipFill>
        <p:spPr>
          <a:xfrm>
            <a:off x="5852160" y="1919335"/>
            <a:ext cx="5852160" cy="3476530"/>
          </a:xfrm>
          <a:prstGeom prst="rect">
            <a:avLst/>
          </a:prstGeom>
        </p:spPr>
      </p:pic>
      <p:sp>
        <p:nvSpPr>
          <p:cNvPr id="7" name="TextBox 6"/>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8" name="TextBox 7"/>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9 /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Adaptive guidance — three levels, chosen automatically</a:t>
            </a:r>
          </a:p>
        </p:txBody>
      </p:sp>
      <p:sp>
        <p:nvSpPr>
          <p:cNvPr id="4" name="TextBox 3"/>
          <p:cNvSpPr txBox="1"/>
          <p:nvPr/>
        </p:nvSpPr>
        <p:spPr>
          <a:xfrm>
            <a:off x="548640" y="1143000"/>
            <a:ext cx="10972800" cy="457200"/>
          </a:xfrm>
          <a:prstGeom prst="rect">
            <a:avLst/>
          </a:prstGeom>
          <a:noFill/>
        </p:spPr>
        <p:txBody>
          <a:bodyPr wrap="square" lIns="45720" tIns="18288" rIns="45720" bIns="18288" anchor="t">
            <a:spAutoFit/>
          </a:bodyPr>
          <a:lstStyle/>
          <a:p>
            <a:pPr algn="l"/>
            <a:r>
              <a:rPr sz="1800" b="1">
                <a:solidFill>
                  <a:srgbClr val="DD1D21"/>
                </a:solidFill>
                <a:latin typeface="Calibri"/>
              </a:rPr>
              <a:t>The operator does NOTHING to switch levels.</a:t>
            </a:r>
          </a:p>
        </p:txBody>
      </p:sp>
      <p:sp>
        <p:nvSpPr>
          <p:cNvPr id="5" name="Rectangle 4"/>
          <p:cNvSpPr/>
          <p:nvPr/>
        </p:nvSpPr>
        <p:spPr>
          <a:xfrm>
            <a:off x="457200" y="1920240"/>
            <a:ext cx="3749039" cy="4023360"/>
          </a:xfrm>
          <a:prstGeom prst="rect">
            <a:avLst/>
          </a:prstGeom>
          <a:solidFill>
            <a:srgbClr val="F1F5F9"/>
          </a:solidFill>
          <a:ln w="25400">
            <a:solidFill>
              <a:srgbClr val="2A9D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920240"/>
            <a:ext cx="3749039" cy="502920"/>
          </a:xfrm>
          <a:prstGeom prst="rect">
            <a:avLst/>
          </a:prstGeom>
          <a:solidFill>
            <a:srgbClr val="2A9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993392"/>
            <a:ext cx="3749039" cy="411480"/>
          </a:xfrm>
          <a:prstGeom prst="rect">
            <a:avLst/>
          </a:prstGeom>
          <a:noFill/>
        </p:spPr>
        <p:txBody>
          <a:bodyPr wrap="square" lIns="45720" tIns="18288" rIns="45720" bIns="18288" anchor="t">
            <a:spAutoFit/>
          </a:bodyPr>
          <a:lstStyle/>
          <a:p>
            <a:pPr algn="ctr"/>
            <a:r>
              <a:rPr sz="1800" b="1">
                <a:solidFill>
                  <a:srgbClr val="FFFFFF"/>
                </a:solidFill>
                <a:latin typeface="Calibri"/>
              </a:rPr>
              <a:t>Low workload</a:t>
            </a:r>
          </a:p>
        </p:txBody>
      </p:sp>
      <p:sp>
        <p:nvSpPr>
          <p:cNvPr id="8" name="TextBox 7"/>
          <p:cNvSpPr txBox="1"/>
          <p:nvPr/>
        </p:nvSpPr>
        <p:spPr>
          <a:xfrm>
            <a:off x="457200" y="2560320"/>
            <a:ext cx="3749039" cy="365760"/>
          </a:xfrm>
          <a:prstGeom prst="rect">
            <a:avLst/>
          </a:prstGeom>
          <a:noFill/>
        </p:spPr>
        <p:txBody>
          <a:bodyPr wrap="square" lIns="45720" tIns="18288" rIns="45720" bIns="18288" anchor="t">
            <a:spAutoFit/>
          </a:bodyPr>
          <a:lstStyle/>
          <a:p>
            <a:pPr algn="ctr"/>
            <a:r>
              <a:rPr sz="1300" b="0">
                <a:solidFill>
                  <a:srgbClr val="556575"/>
                </a:solidFill>
                <a:latin typeface="Calibri"/>
              </a:rPr>
              <a:t>Operator is comfortable</a:t>
            </a:r>
          </a:p>
        </p:txBody>
      </p:sp>
      <p:sp>
        <p:nvSpPr>
          <p:cNvPr id="9" name="TextBox 8"/>
          <p:cNvSpPr txBox="1"/>
          <p:nvPr/>
        </p:nvSpPr>
        <p:spPr>
          <a:xfrm>
            <a:off x="685800" y="3017520"/>
            <a:ext cx="3291839" cy="2834640"/>
          </a:xfrm>
          <a:prstGeom prst="rect">
            <a:avLst/>
          </a:prstGeom>
          <a:noFill/>
        </p:spPr>
        <p:txBody>
          <a:bodyPr wrap="square" lIns="45720" tIns="18288" rIns="45720" bIns="18288" anchor="t">
            <a:spAutoFit/>
          </a:bodyPr>
          <a:lstStyle/>
          <a:p>
            <a:pPr algn="l"/>
            <a:r>
              <a:rPr sz="1300" b="0">
                <a:solidFill>
                  <a:srgbClr val="1F2937"/>
                </a:solidFill>
                <a:latin typeface="Calibri"/>
              </a:rPr>
              <a:t>Just the step name and short description.
No extra panel.</a:t>
            </a:r>
          </a:p>
        </p:txBody>
      </p:sp>
      <p:sp>
        <p:nvSpPr>
          <p:cNvPr id="10" name="Rectangle 9"/>
          <p:cNvSpPr/>
          <p:nvPr/>
        </p:nvSpPr>
        <p:spPr>
          <a:xfrm>
            <a:off x="4343399" y="1920240"/>
            <a:ext cx="3749039" cy="4023360"/>
          </a:xfrm>
          <a:prstGeom prst="rect">
            <a:avLst/>
          </a:prstGeom>
          <a:solidFill>
            <a:srgbClr val="F1F5F9"/>
          </a:solidFill>
          <a:ln w="25400">
            <a:solidFill>
              <a:srgbClr val="E982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399" y="1920240"/>
            <a:ext cx="3749039" cy="502920"/>
          </a:xfrm>
          <a:prstGeom prst="rect">
            <a:avLst/>
          </a:prstGeom>
          <a:solidFill>
            <a:srgbClr val="E98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399" y="1993392"/>
            <a:ext cx="3749039" cy="411480"/>
          </a:xfrm>
          <a:prstGeom prst="rect">
            <a:avLst/>
          </a:prstGeom>
          <a:noFill/>
        </p:spPr>
        <p:txBody>
          <a:bodyPr wrap="square" lIns="45720" tIns="18288" rIns="45720" bIns="18288" anchor="t">
            <a:spAutoFit/>
          </a:bodyPr>
          <a:lstStyle/>
          <a:p>
            <a:pPr algn="ctr"/>
            <a:r>
              <a:rPr sz="1800" b="1">
                <a:solidFill>
                  <a:srgbClr val="FFFFFF"/>
                </a:solidFill>
                <a:latin typeface="Calibri"/>
              </a:rPr>
              <a:t>Medium workload</a:t>
            </a:r>
          </a:p>
        </p:txBody>
      </p:sp>
      <p:sp>
        <p:nvSpPr>
          <p:cNvPr id="13" name="TextBox 12"/>
          <p:cNvSpPr txBox="1"/>
          <p:nvPr/>
        </p:nvSpPr>
        <p:spPr>
          <a:xfrm>
            <a:off x="4343399" y="2560320"/>
            <a:ext cx="3749039" cy="365760"/>
          </a:xfrm>
          <a:prstGeom prst="rect">
            <a:avLst/>
          </a:prstGeom>
          <a:noFill/>
        </p:spPr>
        <p:txBody>
          <a:bodyPr wrap="square" lIns="45720" tIns="18288" rIns="45720" bIns="18288" anchor="t">
            <a:spAutoFit/>
          </a:bodyPr>
          <a:lstStyle/>
          <a:p>
            <a:pPr algn="ctr"/>
            <a:r>
              <a:rPr sz="1300" b="0">
                <a:solidFill>
                  <a:srgbClr val="556575"/>
                </a:solidFill>
                <a:latin typeface="Calibri"/>
              </a:rPr>
              <a:t>Some effort</a:t>
            </a:r>
          </a:p>
        </p:txBody>
      </p:sp>
      <p:sp>
        <p:nvSpPr>
          <p:cNvPr id="14" name="TextBox 13"/>
          <p:cNvSpPr txBox="1"/>
          <p:nvPr/>
        </p:nvSpPr>
        <p:spPr>
          <a:xfrm>
            <a:off x="4571999" y="3017520"/>
            <a:ext cx="3291839" cy="2834640"/>
          </a:xfrm>
          <a:prstGeom prst="rect">
            <a:avLst/>
          </a:prstGeom>
          <a:noFill/>
        </p:spPr>
        <p:txBody>
          <a:bodyPr wrap="square" lIns="45720" tIns="18288" rIns="45720" bIns="18288" anchor="t">
            <a:spAutoFit/>
          </a:bodyPr>
          <a:lstStyle/>
          <a:p>
            <a:pPr algn="l"/>
            <a:r>
              <a:rPr sz="1300" b="0">
                <a:solidFill>
                  <a:srgbClr val="1F2937"/>
                </a:solidFill>
                <a:latin typeface="Calibri"/>
              </a:rPr>
              <a:t>A small panel with key reminders.
Example:
• Sample location upstream of LCV ensures representative oil
• Clean tubes prevent BSW contamination</a:t>
            </a:r>
          </a:p>
        </p:txBody>
      </p:sp>
      <p:sp>
        <p:nvSpPr>
          <p:cNvPr id="15" name="Rectangle 14"/>
          <p:cNvSpPr/>
          <p:nvPr/>
        </p:nvSpPr>
        <p:spPr>
          <a:xfrm>
            <a:off x="8229598" y="1920240"/>
            <a:ext cx="3749039" cy="4023360"/>
          </a:xfrm>
          <a:prstGeom prst="rect">
            <a:avLst/>
          </a:prstGeom>
          <a:solidFill>
            <a:srgbClr val="F1F5F9"/>
          </a:solidFill>
          <a:ln w="25400">
            <a:solidFill>
              <a:srgbClr val="DD1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598" y="1920240"/>
            <a:ext cx="3749039" cy="502920"/>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8" y="1993392"/>
            <a:ext cx="3749039" cy="411480"/>
          </a:xfrm>
          <a:prstGeom prst="rect">
            <a:avLst/>
          </a:prstGeom>
          <a:noFill/>
        </p:spPr>
        <p:txBody>
          <a:bodyPr wrap="square" lIns="45720" tIns="18288" rIns="45720" bIns="18288" anchor="t">
            <a:spAutoFit/>
          </a:bodyPr>
          <a:lstStyle/>
          <a:p>
            <a:pPr algn="ctr"/>
            <a:r>
              <a:rPr sz="1800" b="1">
                <a:solidFill>
                  <a:srgbClr val="FFFFFF"/>
                </a:solidFill>
                <a:latin typeface="Calibri"/>
              </a:rPr>
              <a:t>High workload</a:t>
            </a:r>
          </a:p>
        </p:txBody>
      </p:sp>
      <p:sp>
        <p:nvSpPr>
          <p:cNvPr id="18" name="TextBox 17"/>
          <p:cNvSpPr txBox="1"/>
          <p:nvPr/>
        </p:nvSpPr>
        <p:spPr>
          <a:xfrm>
            <a:off x="8229598" y="2560320"/>
            <a:ext cx="3749039" cy="365760"/>
          </a:xfrm>
          <a:prstGeom prst="rect">
            <a:avLst/>
          </a:prstGeom>
          <a:noFill/>
        </p:spPr>
        <p:txBody>
          <a:bodyPr wrap="square" lIns="45720" tIns="18288" rIns="45720" bIns="18288" anchor="t">
            <a:spAutoFit/>
          </a:bodyPr>
          <a:lstStyle/>
          <a:p>
            <a:pPr algn="ctr"/>
            <a:r>
              <a:rPr sz="1300" b="0">
                <a:solidFill>
                  <a:srgbClr val="556575"/>
                </a:solidFill>
                <a:latin typeface="Calibri"/>
              </a:rPr>
              <a:t>Operator is struggling</a:t>
            </a:r>
          </a:p>
        </p:txBody>
      </p:sp>
      <p:sp>
        <p:nvSpPr>
          <p:cNvPr id="19" name="TextBox 18"/>
          <p:cNvSpPr txBox="1"/>
          <p:nvPr/>
        </p:nvSpPr>
        <p:spPr>
          <a:xfrm>
            <a:off x="8458198" y="3017520"/>
            <a:ext cx="3291839" cy="2834640"/>
          </a:xfrm>
          <a:prstGeom prst="rect">
            <a:avLst/>
          </a:prstGeom>
          <a:noFill/>
        </p:spPr>
        <p:txBody>
          <a:bodyPr wrap="square" lIns="45720" tIns="18288" rIns="45720" bIns="18288" anchor="t">
            <a:spAutoFit/>
          </a:bodyPr>
          <a:lstStyle/>
          <a:p>
            <a:pPr algn="l"/>
            <a:r>
              <a:rPr sz="1300" b="0">
                <a:solidFill>
                  <a:srgbClr val="1F2937"/>
                </a:solidFill>
                <a:latin typeface="Calibri"/>
              </a:rPr>
              <a:t>A full explanation appears: Why / What / How.
Both the Key Points AND the detailed reasoning are shown.</a:t>
            </a:r>
          </a:p>
        </p:txBody>
      </p:sp>
      <p:sp>
        <p:nvSpPr>
          <p:cNvPr id="20" name="TextBox 19"/>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21" name="TextBox 20"/>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10 / 17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Once we've shown it, it stays</a:t>
            </a:r>
          </a:p>
        </p:txBody>
      </p:sp>
      <p:sp>
        <p:nvSpPr>
          <p:cNvPr id="4" name="TextBox 3"/>
          <p:cNvSpPr txBox="1"/>
          <p:nvPr/>
        </p:nvSpPr>
        <p:spPr>
          <a:xfrm>
            <a:off x="548640" y="1188720"/>
            <a:ext cx="10972800" cy="548640"/>
          </a:xfrm>
          <a:prstGeom prst="rect">
            <a:avLst/>
          </a:prstGeom>
          <a:noFill/>
        </p:spPr>
        <p:txBody>
          <a:bodyPr wrap="square" lIns="45720" tIns="18288" rIns="45720" bIns="18288" anchor="t">
            <a:spAutoFit/>
          </a:bodyPr>
          <a:lstStyle/>
          <a:p>
            <a:pPr algn="l"/>
            <a:r>
              <a:rPr sz="2000" b="0">
                <a:solidFill>
                  <a:srgbClr val="556575"/>
                </a:solidFill>
                <a:latin typeface="Calibri"/>
              </a:rPr>
              <a:t>A safety feature: previously-shown guidance is never pulled away.</a:t>
            </a:r>
          </a:p>
        </p:txBody>
      </p:sp>
      <p:sp>
        <p:nvSpPr>
          <p:cNvPr id="5" name="Rectangle 4"/>
          <p:cNvSpPr/>
          <p:nvPr/>
        </p:nvSpPr>
        <p:spPr>
          <a:xfrm>
            <a:off x="457200" y="2011680"/>
            <a:ext cx="3657600" cy="3657600"/>
          </a:xfrm>
          <a:prstGeom prst="rect">
            <a:avLst/>
          </a:prstGeom>
          <a:solidFill>
            <a:srgbClr val="F1F5F9"/>
          </a:solidFill>
          <a:ln w="19050">
            <a:solidFill>
              <a:srgbClr val="2A9D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011680"/>
            <a:ext cx="3657600" cy="411480"/>
          </a:xfrm>
          <a:prstGeom prst="rect">
            <a:avLst/>
          </a:prstGeom>
          <a:solidFill>
            <a:srgbClr val="2A9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2066544"/>
            <a:ext cx="3657600" cy="320040"/>
          </a:xfrm>
          <a:prstGeom prst="rect">
            <a:avLst/>
          </a:prstGeom>
          <a:noFill/>
        </p:spPr>
        <p:txBody>
          <a:bodyPr wrap="square" lIns="45720" tIns="18288" rIns="45720" bIns="18288" anchor="t">
            <a:spAutoFit/>
          </a:bodyPr>
          <a:lstStyle/>
          <a:p>
            <a:pPr algn="ctr"/>
            <a:r>
              <a:rPr sz="1500" b="1">
                <a:solidFill>
                  <a:srgbClr val="FFFFFF"/>
                </a:solidFill>
                <a:latin typeface="Calibri"/>
              </a:rPr>
              <a:t>Low — just the step name</a:t>
            </a:r>
          </a:p>
        </p:txBody>
      </p:sp>
      <p:sp>
        <p:nvSpPr>
          <p:cNvPr id="8" name="Rectangle 7"/>
          <p:cNvSpPr/>
          <p:nvPr/>
        </p:nvSpPr>
        <p:spPr>
          <a:xfrm>
            <a:off x="640080" y="2560320"/>
            <a:ext cx="3291840" cy="457200"/>
          </a:xfrm>
          <a:prstGeom prst="rect">
            <a:avLst/>
          </a:prstGeom>
          <a:solidFill>
            <a:srgbClr val="FFFFFF"/>
          </a:solidFill>
          <a:ln w="9525">
            <a:solidFill>
              <a:srgbClr val="2A9D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587752"/>
            <a:ext cx="3108960" cy="411480"/>
          </a:xfrm>
          <a:prstGeom prst="rect">
            <a:avLst/>
          </a:prstGeom>
          <a:noFill/>
        </p:spPr>
        <p:txBody>
          <a:bodyPr wrap="square" lIns="45720" tIns="18288" rIns="45720" bIns="18288" anchor="t">
            <a:spAutoFit/>
          </a:bodyPr>
          <a:lstStyle/>
          <a:p>
            <a:pPr algn="l"/>
            <a:r>
              <a:rPr sz="1200" b="0">
                <a:solidFill>
                  <a:srgbClr val="1F2937"/>
                </a:solidFill>
                <a:latin typeface="Calibri"/>
              </a:rPr>
              <a:t>(no additional guidance)</a:t>
            </a:r>
          </a:p>
        </p:txBody>
      </p:sp>
      <p:sp>
        <p:nvSpPr>
          <p:cNvPr id="10" name="Rectangle 9"/>
          <p:cNvSpPr/>
          <p:nvPr/>
        </p:nvSpPr>
        <p:spPr>
          <a:xfrm>
            <a:off x="4343400" y="2011680"/>
            <a:ext cx="3657600" cy="3657600"/>
          </a:xfrm>
          <a:prstGeom prst="rect">
            <a:avLst/>
          </a:prstGeom>
          <a:solidFill>
            <a:srgbClr val="F1F5F9"/>
          </a:solidFill>
          <a:ln w="19050">
            <a:solidFill>
              <a:srgbClr val="E982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2011680"/>
            <a:ext cx="3657600" cy="411480"/>
          </a:xfrm>
          <a:prstGeom prst="rect">
            <a:avLst/>
          </a:prstGeom>
          <a:solidFill>
            <a:srgbClr val="E98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2066544"/>
            <a:ext cx="3657600" cy="320040"/>
          </a:xfrm>
          <a:prstGeom prst="rect">
            <a:avLst/>
          </a:prstGeom>
          <a:noFill/>
        </p:spPr>
        <p:txBody>
          <a:bodyPr wrap="square" lIns="45720" tIns="18288" rIns="45720" bIns="18288" anchor="t">
            <a:spAutoFit/>
          </a:bodyPr>
          <a:lstStyle/>
          <a:p>
            <a:pPr algn="ctr"/>
            <a:r>
              <a:rPr sz="1500" b="1">
                <a:solidFill>
                  <a:srgbClr val="FFFFFF"/>
                </a:solidFill>
                <a:latin typeface="Calibri"/>
              </a:rPr>
              <a:t>Medium — Key Points added</a:t>
            </a:r>
          </a:p>
        </p:txBody>
      </p:sp>
      <p:sp>
        <p:nvSpPr>
          <p:cNvPr id="13" name="Rectangle 12"/>
          <p:cNvSpPr/>
          <p:nvPr/>
        </p:nvSpPr>
        <p:spPr>
          <a:xfrm>
            <a:off x="4526280" y="2560320"/>
            <a:ext cx="3291840" cy="457200"/>
          </a:xfrm>
          <a:prstGeom prst="rect">
            <a:avLst/>
          </a:prstGeom>
          <a:solidFill>
            <a:srgbClr val="FFFFFF"/>
          </a:solidFill>
          <a:ln w="9525">
            <a:solidFill>
              <a:srgbClr val="E982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2587752"/>
            <a:ext cx="3108960" cy="411480"/>
          </a:xfrm>
          <a:prstGeom prst="rect">
            <a:avLst/>
          </a:prstGeom>
          <a:noFill/>
        </p:spPr>
        <p:txBody>
          <a:bodyPr wrap="square" lIns="45720" tIns="18288" rIns="45720" bIns="18288" anchor="t">
            <a:spAutoFit/>
          </a:bodyPr>
          <a:lstStyle/>
          <a:p>
            <a:pPr algn="l"/>
            <a:r>
              <a:rPr sz="1200" b="0">
                <a:solidFill>
                  <a:srgbClr val="1F2937"/>
                </a:solidFill>
                <a:latin typeface="Calibri"/>
              </a:rPr>
              <a:t>Key Points panel (yellow)</a:t>
            </a:r>
          </a:p>
        </p:txBody>
      </p:sp>
      <p:sp>
        <p:nvSpPr>
          <p:cNvPr id="15" name="Rectangle 14"/>
          <p:cNvSpPr/>
          <p:nvPr/>
        </p:nvSpPr>
        <p:spPr>
          <a:xfrm>
            <a:off x="8229600" y="2011680"/>
            <a:ext cx="3657600" cy="3657600"/>
          </a:xfrm>
          <a:prstGeom prst="rect">
            <a:avLst/>
          </a:prstGeom>
          <a:solidFill>
            <a:srgbClr val="F1F5F9"/>
          </a:solidFill>
          <a:ln w="19050">
            <a:solidFill>
              <a:srgbClr val="DD1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2011680"/>
            <a:ext cx="3657600" cy="411480"/>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2066544"/>
            <a:ext cx="3657600" cy="320040"/>
          </a:xfrm>
          <a:prstGeom prst="rect">
            <a:avLst/>
          </a:prstGeom>
          <a:noFill/>
        </p:spPr>
        <p:txBody>
          <a:bodyPr wrap="square" lIns="45720" tIns="18288" rIns="45720" bIns="18288" anchor="t">
            <a:spAutoFit/>
          </a:bodyPr>
          <a:lstStyle/>
          <a:p>
            <a:pPr algn="ctr"/>
            <a:r>
              <a:rPr sz="1500" b="1">
                <a:solidFill>
                  <a:srgbClr val="FFFFFF"/>
                </a:solidFill>
                <a:latin typeface="Calibri"/>
              </a:rPr>
              <a:t>High — Why/What/How added</a:t>
            </a:r>
          </a:p>
        </p:txBody>
      </p:sp>
      <p:sp>
        <p:nvSpPr>
          <p:cNvPr id="18" name="Rectangle 17"/>
          <p:cNvSpPr/>
          <p:nvPr/>
        </p:nvSpPr>
        <p:spPr>
          <a:xfrm>
            <a:off x="8412480" y="2560320"/>
            <a:ext cx="3291840" cy="457200"/>
          </a:xfrm>
          <a:prstGeom prst="rect">
            <a:avLst/>
          </a:prstGeom>
          <a:solidFill>
            <a:srgbClr val="FFFFFF"/>
          </a:solidFill>
          <a:ln w="9525">
            <a:solidFill>
              <a:srgbClr val="DD1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2587752"/>
            <a:ext cx="3108960" cy="411480"/>
          </a:xfrm>
          <a:prstGeom prst="rect">
            <a:avLst/>
          </a:prstGeom>
          <a:noFill/>
        </p:spPr>
        <p:txBody>
          <a:bodyPr wrap="square" lIns="45720" tIns="18288" rIns="45720" bIns="18288" anchor="t">
            <a:spAutoFit/>
          </a:bodyPr>
          <a:lstStyle/>
          <a:p>
            <a:pPr algn="l"/>
            <a:r>
              <a:rPr sz="1200" b="0">
                <a:solidFill>
                  <a:srgbClr val="1F2937"/>
                </a:solidFill>
                <a:latin typeface="Calibri"/>
              </a:rPr>
              <a:t>Key Points panel (still visible)</a:t>
            </a:r>
          </a:p>
        </p:txBody>
      </p:sp>
      <p:sp>
        <p:nvSpPr>
          <p:cNvPr id="20" name="Rectangle 19"/>
          <p:cNvSpPr/>
          <p:nvPr/>
        </p:nvSpPr>
        <p:spPr>
          <a:xfrm>
            <a:off x="8412480" y="3200400"/>
            <a:ext cx="3291840" cy="457200"/>
          </a:xfrm>
          <a:prstGeom prst="rect">
            <a:avLst/>
          </a:prstGeom>
          <a:solidFill>
            <a:srgbClr val="FFFFFF"/>
          </a:solidFill>
          <a:ln w="9525">
            <a:solidFill>
              <a:srgbClr val="DD1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03920" y="3227832"/>
            <a:ext cx="3108960" cy="411480"/>
          </a:xfrm>
          <a:prstGeom prst="rect">
            <a:avLst/>
          </a:prstGeom>
          <a:noFill/>
        </p:spPr>
        <p:txBody>
          <a:bodyPr wrap="square" lIns="45720" tIns="18288" rIns="45720" bIns="18288" anchor="t">
            <a:spAutoFit/>
          </a:bodyPr>
          <a:lstStyle/>
          <a:p>
            <a:pPr algn="l"/>
            <a:r>
              <a:rPr sz="1200" b="0">
                <a:solidFill>
                  <a:srgbClr val="1F2937"/>
                </a:solidFill>
                <a:latin typeface="Calibri"/>
              </a:rPr>
              <a:t>Detailed Explanation: Why / What / How</a:t>
            </a:r>
          </a:p>
        </p:txBody>
      </p:sp>
      <p:sp>
        <p:nvSpPr>
          <p:cNvPr id="22" name="TextBox 21"/>
          <p:cNvSpPr txBox="1"/>
          <p:nvPr/>
        </p:nvSpPr>
        <p:spPr>
          <a:xfrm>
            <a:off x="4133088" y="3703320"/>
            <a:ext cx="228600" cy="365760"/>
          </a:xfrm>
          <a:prstGeom prst="rect">
            <a:avLst/>
          </a:prstGeom>
          <a:noFill/>
        </p:spPr>
        <p:txBody>
          <a:bodyPr wrap="square" lIns="45720" tIns="18288" rIns="45720" bIns="18288" anchor="t">
            <a:spAutoFit/>
          </a:bodyPr>
          <a:lstStyle/>
          <a:p>
            <a:pPr algn="ctr"/>
            <a:r>
              <a:rPr sz="2800" b="1">
                <a:solidFill>
                  <a:srgbClr val="556575"/>
                </a:solidFill>
                <a:latin typeface="Calibri"/>
              </a:rPr>
              <a:t>→</a:t>
            </a:r>
          </a:p>
        </p:txBody>
      </p:sp>
      <p:sp>
        <p:nvSpPr>
          <p:cNvPr id="23" name="TextBox 22"/>
          <p:cNvSpPr txBox="1"/>
          <p:nvPr/>
        </p:nvSpPr>
        <p:spPr>
          <a:xfrm>
            <a:off x="8019288" y="3703320"/>
            <a:ext cx="228600" cy="365760"/>
          </a:xfrm>
          <a:prstGeom prst="rect">
            <a:avLst/>
          </a:prstGeom>
          <a:noFill/>
        </p:spPr>
        <p:txBody>
          <a:bodyPr wrap="square" lIns="45720" tIns="18288" rIns="45720" bIns="18288" anchor="t">
            <a:spAutoFit/>
          </a:bodyPr>
          <a:lstStyle/>
          <a:p>
            <a:pPr algn="ctr"/>
            <a:r>
              <a:rPr sz="2800" b="1">
                <a:solidFill>
                  <a:srgbClr val="556575"/>
                </a:solidFill>
                <a:latin typeface="Calibri"/>
              </a:rPr>
              <a:t>→</a:t>
            </a:r>
          </a:p>
        </p:txBody>
      </p:sp>
      <p:sp>
        <p:nvSpPr>
          <p:cNvPr id="24" name="TextBox 23"/>
          <p:cNvSpPr txBox="1"/>
          <p:nvPr/>
        </p:nvSpPr>
        <p:spPr>
          <a:xfrm>
            <a:off x="548640" y="5943600"/>
            <a:ext cx="10972800" cy="457200"/>
          </a:xfrm>
          <a:prstGeom prst="rect">
            <a:avLst/>
          </a:prstGeom>
          <a:noFill/>
        </p:spPr>
        <p:txBody>
          <a:bodyPr wrap="square" lIns="45720" tIns="18288" rIns="45720" bIns="18288" anchor="t">
            <a:spAutoFit/>
          </a:bodyPr>
          <a:lstStyle/>
          <a:p>
            <a:pPr algn="ctr"/>
            <a:r>
              <a:rPr sz="1400" b="0">
                <a:solidFill>
                  <a:srgbClr val="556575"/>
                </a:solidFill>
                <a:latin typeface="Calibri"/>
              </a:rPr>
              <a:t>An operator who needed the medium reminder doesn't have it pulled out from under them.</a:t>
            </a:r>
          </a:p>
        </p:txBody>
      </p:sp>
      <p:sp>
        <p:nvSpPr>
          <p:cNvPr id="25" name="TextBox 24"/>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26" name="TextBox 25"/>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11 / 17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Behind the scenes — just a peek</a:t>
            </a:r>
          </a:p>
        </p:txBody>
      </p:sp>
      <p:sp>
        <p:nvSpPr>
          <p:cNvPr id="4" name="TextBox 3"/>
          <p:cNvSpPr txBox="1"/>
          <p:nvPr/>
        </p:nvSpPr>
        <p:spPr>
          <a:xfrm>
            <a:off x="548640" y="1188720"/>
            <a:ext cx="10972800" cy="548640"/>
          </a:xfrm>
          <a:prstGeom prst="rect">
            <a:avLst/>
          </a:prstGeom>
          <a:noFill/>
        </p:spPr>
        <p:txBody>
          <a:bodyPr wrap="square" lIns="45720" tIns="18288" rIns="45720" bIns="18288" anchor="t">
            <a:spAutoFit/>
          </a:bodyPr>
          <a:lstStyle/>
          <a:p>
            <a:pPr algn="l"/>
            <a:r>
              <a:rPr sz="1800" b="0">
                <a:solidFill>
                  <a:srgbClr val="556575"/>
                </a:solidFill>
                <a:latin typeface="Calibri"/>
              </a:rPr>
              <a:t>The system checks four things every second, silently:</a:t>
            </a:r>
          </a:p>
        </p:txBody>
      </p:sp>
      <p:sp>
        <p:nvSpPr>
          <p:cNvPr id="5" name="Rectangle 4"/>
          <p:cNvSpPr/>
          <p:nvPr/>
        </p:nvSpPr>
        <p:spPr>
          <a:xfrm>
            <a:off x="457200" y="2011680"/>
            <a:ext cx="2697480" cy="329184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148840"/>
            <a:ext cx="2697480" cy="914400"/>
          </a:xfrm>
          <a:prstGeom prst="rect">
            <a:avLst/>
          </a:prstGeom>
          <a:noFill/>
        </p:spPr>
        <p:txBody>
          <a:bodyPr wrap="square" lIns="45720" tIns="18288" rIns="45720" bIns="18288" anchor="t">
            <a:spAutoFit/>
          </a:bodyPr>
          <a:lstStyle/>
          <a:p>
            <a:pPr algn="ctr"/>
            <a:r>
              <a:rPr sz="5200" b="1">
                <a:solidFill>
                  <a:srgbClr val="DD1D21"/>
                </a:solidFill>
                <a:latin typeface="Calibri"/>
              </a:rPr>
              <a:t>1</a:t>
            </a:r>
          </a:p>
        </p:txBody>
      </p:sp>
      <p:sp>
        <p:nvSpPr>
          <p:cNvPr id="7" name="TextBox 6"/>
          <p:cNvSpPr txBox="1"/>
          <p:nvPr/>
        </p:nvSpPr>
        <p:spPr>
          <a:xfrm>
            <a:off x="640080" y="3200400"/>
            <a:ext cx="2331720" cy="548640"/>
          </a:xfrm>
          <a:prstGeom prst="rect">
            <a:avLst/>
          </a:prstGeom>
          <a:noFill/>
        </p:spPr>
        <p:txBody>
          <a:bodyPr wrap="square" lIns="45720" tIns="18288" rIns="45720" bIns="18288" anchor="t">
            <a:spAutoFit/>
          </a:bodyPr>
          <a:lstStyle/>
          <a:p>
            <a:pPr algn="ctr"/>
            <a:r>
              <a:rPr sz="1800" b="1">
                <a:solidFill>
                  <a:srgbClr val="1F2937"/>
                </a:solidFill>
                <a:latin typeface="Calibri"/>
              </a:rPr>
              <a:t>Pupil size</a:t>
            </a:r>
          </a:p>
        </p:txBody>
      </p:sp>
      <p:sp>
        <p:nvSpPr>
          <p:cNvPr id="8" name="TextBox 7"/>
          <p:cNvSpPr txBox="1"/>
          <p:nvPr/>
        </p:nvSpPr>
        <p:spPr>
          <a:xfrm>
            <a:off x="640080" y="3794760"/>
            <a:ext cx="2331720" cy="1371600"/>
          </a:xfrm>
          <a:prstGeom prst="rect">
            <a:avLst/>
          </a:prstGeom>
          <a:noFill/>
        </p:spPr>
        <p:txBody>
          <a:bodyPr wrap="square" lIns="45720" tIns="18288" rIns="45720" bIns="18288" anchor="t">
            <a:spAutoFit/>
          </a:bodyPr>
          <a:lstStyle/>
          <a:p>
            <a:pPr algn="ctr"/>
            <a:r>
              <a:rPr sz="1200" b="0">
                <a:solidFill>
                  <a:srgbClr val="556575"/>
                </a:solidFill>
                <a:latin typeface="Calibri"/>
              </a:rPr>
              <a:t>How dilated are the eyes right now, compared to the calibration baseline?</a:t>
            </a:r>
          </a:p>
        </p:txBody>
      </p:sp>
      <p:sp>
        <p:nvSpPr>
          <p:cNvPr id="9" name="Rectangle 8"/>
          <p:cNvSpPr/>
          <p:nvPr/>
        </p:nvSpPr>
        <p:spPr>
          <a:xfrm>
            <a:off x="3291840" y="2011680"/>
            <a:ext cx="2697480" cy="329184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91840" y="2148840"/>
            <a:ext cx="2697480" cy="914400"/>
          </a:xfrm>
          <a:prstGeom prst="rect">
            <a:avLst/>
          </a:prstGeom>
          <a:noFill/>
        </p:spPr>
        <p:txBody>
          <a:bodyPr wrap="square" lIns="45720" tIns="18288" rIns="45720" bIns="18288" anchor="t">
            <a:spAutoFit/>
          </a:bodyPr>
          <a:lstStyle/>
          <a:p>
            <a:pPr algn="ctr"/>
            <a:r>
              <a:rPr sz="5200" b="1">
                <a:solidFill>
                  <a:srgbClr val="DD1D21"/>
                </a:solidFill>
                <a:latin typeface="Calibri"/>
              </a:rPr>
              <a:t>2</a:t>
            </a:r>
          </a:p>
        </p:txBody>
      </p:sp>
      <p:sp>
        <p:nvSpPr>
          <p:cNvPr id="11" name="TextBox 10"/>
          <p:cNvSpPr txBox="1"/>
          <p:nvPr/>
        </p:nvSpPr>
        <p:spPr>
          <a:xfrm>
            <a:off x="3474720" y="3200400"/>
            <a:ext cx="2331720" cy="548640"/>
          </a:xfrm>
          <a:prstGeom prst="rect">
            <a:avLst/>
          </a:prstGeom>
          <a:noFill/>
        </p:spPr>
        <p:txBody>
          <a:bodyPr wrap="square" lIns="45720" tIns="18288" rIns="45720" bIns="18288" anchor="t">
            <a:spAutoFit/>
          </a:bodyPr>
          <a:lstStyle/>
          <a:p>
            <a:pPr algn="ctr"/>
            <a:r>
              <a:rPr sz="1800" b="1">
                <a:solidFill>
                  <a:srgbClr val="1F2937"/>
                </a:solidFill>
                <a:latin typeface="Calibri"/>
              </a:rPr>
              <a:t>Blink rate</a:t>
            </a:r>
          </a:p>
        </p:txBody>
      </p:sp>
      <p:sp>
        <p:nvSpPr>
          <p:cNvPr id="12" name="TextBox 11"/>
          <p:cNvSpPr txBox="1"/>
          <p:nvPr/>
        </p:nvSpPr>
        <p:spPr>
          <a:xfrm>
            <a:off x="3474720" y="3794760"/>
            <a:ext cx="2331720" cy="1371600"/>
          </a:xfrm>
          <a:prstGeom prst="rect">
            <a:avLst/>
          </a:prstGeom>
          <a:noFill/>
        </p:spPr>
        <p:txBody>
          <a:bodyPr wrap="square" lIns="45720" tIns="18288" rIns="45720" bIns="18288" anchor="t">
            <a:spAutoFit/>
          </a:bodyPr>
          <a:lstStyle/>
          <a:p>
            <a:pPr algn="ctr"/>
            <a:r>
              <a:rPr sz="1200" b="0">
                <a:solidFill>
                  <a:srgbClr val="556575"/>
                </a:solidFill>
                <a:latin typeface="Calibri"/>
              </a:rPr>
              <a:t>How often is the operator blinking?</a:t>
            </a:r>
          </a:p>
        </p:txBody>
      </p:sp>
      <p:sp>
        <p:nvSpPr>
          <p:cNvPr id="13" name="Rectangle 12"/>
          <p:cNvSpPr/>
          <p:nvPr/>
        </p:nvSpPr>
        <p:spPr>
          <a:xfrm>
            <a:off x="6126480" y="2011680"/>
            <a:ext cx="2697480" cy="329184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2148840"/>
            <a:ext cx="2697480" cy="914400"/>
          </a:xfrm>
          <a:prstGeom prst="rect">
            <a:avLst/>
          </a:prstGeom>
          <a:noFill/>
        </p:spPr>
        <p:txBody>
          <a:bodyPr wrap="square" lIns="45720" tIns="18288" rIns="45720" bIns="18288" anchor="t">
            <a:spAutoFit/>
          </a:bodyPr>
          <a:lstStyle/>
          <a:p>
            <a:pPr algn="ctr"/>
            <a:r>
              <a:rPr sz="5200" b="1">
                <a:solidFill>
                  <a:srgbClr val="DD1D21"/>
                </a:solidFill>
                <a:latin typeface="Calibri"/>
              </a:rPr>
              <a:t>3</a:t>
            </a:r>
          </a:p>
        </p:txBody>
      </p:sp>
      <p:sp>
        <p:nvSpPr>
          <p:cNvPr id="15" name="TextBox 14"/>
          <p:cNvSpPr txBox="1"/>
          <p:nvPr/>
        </p:nvSpPr>
        <p:spPr>
          <a:xfrm>
            <a:off x="6309360" y="3200400"/>
            <a:ext cx="2331720" cy="548640"/>
          </a:xfrm>
          <a:prstGeom prst="rect">
            <a:avLst/>
          </a:prstGeom>
          <a:noFill/>
        </p:spPr>
        <p:txBody>
          <a:bodyPr wrap="square" lIns="45720" tIns="18288" rIns="45720" bIns="18288" anchor="t">
            <a:spAutoFit/>
          </a:bodyPr>
          <a:lstStyle/>
          <a:p>
            <a:pPr algn="ctr"/>
            <a:r>
              <a:rPr sz="1800" b="1">
                <a:solidFill>
                  <a:srgbClr val="1F2937"/>
                </a:solidFill>
                <a:latin typeface="Calibri"/>
              </a:rPr>
              <a:t>Fixation length</a:t>
            </a:r>
          </a:p>
        </p:txBody>
      </p:sp>
      <p:sp>
        <p:nvSpPr>
          <p:cNvPr id="16" name="TextBox 15"/>
          <p:cNvSpPr txBox="1"/>
          <p:nvPr/>
        </p:nvSpPr>
        <p:spPr>
          <a:xfrm>
            <a:off x="6309360" y="3794760"/>
            <a:ext cx="2331720" cy="1371600"/>
          </a:xfrm>
          <a:prstGeom prst="rect">
            <a:avLst/>
          </a:prstGeom>
          <a:noFill/>
        </p:spPr>
        <p:txBody>
          <a:bodyPr wrap="square" lIns="45720" tIns="18288" rIns="45720" bIns="18288" anchor="t">
            <a:spAutoFit/>
          </a:bodyPr>
          <a:lstStyle/>
          <a:p>
            <a:pPr algn="ctr"/>
            <a:r>
              <a:rPr sz="1200" b="0">
                <a:solidFill>
                  <a:srgbClr val="556575"/>
                </a:solidFill>
                <a:latin typeface="Calibri"/>
              </a:rPr>
              <a:t>How long are their eyes holding still on one spot?</a:t>
            </a:r>
          </a:p>
        </p:txBody>
      </p:sp>
      <p:sp>
        <p:nvSpPr>
          <p:cNvPr id="17" name="Rectangle 16"/>
          <p:cNvSpPr/>
          <p:nvPr/>
        </p:nvSpPr>
        <p:spPr>
          <a:xfrm>
            <a:off x="8961120" y="2011680"/>
            <a:ext cx="2697480" cy="3291840"/>
          </a:xfrm>
          <a:prstGeom prst="rect">
            <a:avLst/>
          </a:prstGeom>
          <a:solidFill>
            <a:srgbClr val="F1F5F9"/>
          </a:solidFill>
          <a:ln w="19050">
            <a:solidFill>
              <a:srgbClr val="FBCE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0" y="2148840"/>
            <a:ext cx="2697480" cy="914400"/>
          </a:xfrm>
          <a:prstGeom prst="rect">
            <a:avLst/>
          </a:prstGeom>
          <a:noFill/>
        </p:spPr>
        <p:txBody>
          <a:bodyPr wrap="square" lIns="45720" tIns="18288" rIns="45720" bIns="18288" anchor="t">
            <a:spAutoFit/>
          </a:bodyPr>
          <a:lstStyle/>
          <a:p>
            <a:pPr algn="ctr"/>
            <a:r>
              <a:rPr sz="5200" b="1">
                <a:solidFill>
                  <a:srgbClr val="DD1D21"/>
                </a:solidFill>
                <a:latin typeface="Calibri"/>
              </a:rPr>
              <a:t>4</a:t>
            </a:r>
          </a:p>
        </p:txBody>
      </p:sp>
      <p:sp>
        <p:nvSpPr>
          <p:cNvPr id="19" name="TextBox 18"/>
          <p:cNvSpPr txBox="1"/>
          <p:nvPr/>
        </p:nvSpPr>
        <p:spPr>
          <a:xfrm>
            <a:off x="9144000" y="3200400"/>
            <a:ext cx="2331720" cy="548640"/>
          </a:xfrm>
          <a:prstGeom prst="rect">
            <a:avLst/>
          </a:prstGeom>
          <a:noFill/>
        </p:spPr>
        <p:txBody>
          <a:bodyPr wrap="square" lIns="45720" tIns="18288" rIns="45720" bIns="18288" anchor="t">
            <a:spAutoFit/>
          </a:bodyPr>
          <a:lstStyle/>
          <a:p>
            <a:pPr algn="ctr"/>
            <a:r>
              <a:rPr sz="1800" b="1">
                <a:solidFill>
                  <a:srgbClr val="1F2937"/>
                </a:solidFill>
                <a:latin typeface="Calibri"/>
              </a:rPr>
              <a:t>Fixation steadiness</a:t>
            </a:r>
          </a:p>
        </p:txBody>
      </p:sp>
      <p:sp>
        <p:nvSpPr>
          <p:cNvPr id="20" name="TextBox 19"/>
          <p:cNvSpPr txBox="1"/>
          <p:nvPr/>
        </p:nvSpPr>
        <p:spPr>
          <a:xfrm>
            <a:off x="9144000" y="3794760"/>
            <a:ext cx="2331720" cy="1371600"/>
          </a:xfrm>
          <a:prstGeom prst="rect">
            <a:avLst/>
          </a:prstGeom>
          <a:noFill/>
        </p:spPr>
        <p:txBody>
          <a:bodyPr wrap="square" lIns="45720" tIns="18288" rIns="45720" bIns="18288" anchor="t">
            <a:spAutoFit/>
          </a:bodyPr>
          <a:lstStyle/>
          <a:p>
            <a:pPr algn="ctr"/>
            <a:r>
              <a:rPr sz="1200" b="0">
                <a:solidFill>
                  <a:srgbClr val="556575"/>
                </a:solidFill>
                <a:latin typeface="Calibri"/>
              </a:rPr>
              <a:t>How much is their gaze wandering?</a:t>
            </a:r>
          </a:p>
        </p:txBody>
      </p:sp>
      <p:sp>
        <p:nvSpPr>
          <p:cNvPr id="21" name="TextBox 20"/>
          <p:cNvSpPr txBox="1"/>
          <p:nvPr/>
        </p:nvSpPr>
        <p:spPr>
          <a:xfrm>
            <a:off x="548640" y="5669280"/>
            <a:ext cx="10972800" cy="457200"/>
          </a:xfrm>
          <a:prstGeom prst="rect">
            <a:avLst/>
          </a:prstGeom>
          <a:noFill/>
        </p:spPr>
        <p:txBody>
          <a:bodyPr wrap="square" lIns="45720" tIns="18288" rIns="45720" bIns="18288" anchor="t">
            <a:spAutoFit/>
          </a:bodyPr>
          <a:lstStyle/>
          <a:p>
            <a:pPr algn="ctr"/>
            <a:r>
              <a:rPr sz="1600" b="1">
                <a:solidFill>
                  <a:srgbClr val="1F2937"/>
                </a:solidFill>
                <a:latin typeface="Calibri"/>
              </a:rPr>
              <a:t>These four signals are combined into one number: workload level.</a:t>
            </a:r>
          </a:p>
        </p:txBody>
      </p:sp>
      <p:sp>
        <p:nvSpPr>
          <p:cNvPr id="22" name="TextBox 21"/>
          <p:cNvSpPr txBox="1"/>
          <p:nvPr/>
        </p:nvSpPr>
        <p:spPr>
          <a:xfrm>
            <a:off x="548640" y="6080760"/>
            <a:ext cx="10972800" cy="365760"/>
          </a:xfrm>
          <a:prstGeom prst="rect">
            <a:avLst/>
          </a:prstGeom>
          <a:noFill/>
        </p:spPr>
        <p:txBody>
          <a:bodyPr wrap="square" lIns="45720" tIns="18288" rIns="45720" bIns="18288" anchor="t">
            <a:spAutoFit/>
          </a:bodyPr>
          <a:lstStyle/>
          <a:p>
            <a:pPr algn="ctr"/>
            <a:r>
              <a:rPr sz="1300" b="0">
                <a:solidFill>
                  <a:srgbClr val="556575"/>
                </a:solidFill>
                <a:latin typeface="Calibri"/>
              </a:rPr>
              <a:t>No questions. No interruptions. Nothing the operator has to manage.</a:t>
            </a:r>
          </a:p>
        </p:txBody>
      </p:sp>
      <p:sp>
        <p:nvSpPr>
          <p:cNvPr id="23" name="TextBox 22"/>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24" name="TextBox 23"/>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12 / 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Trainer &amp; admin view — for your back-office team</a:t>
            </a:r>
          </a:p>
        </p:txBody>
      </p:sp>
      <p:sp>
        <p:nvSpPr>
          <p:cNvPr id="4" name="TextBox 3"/>
          <p:cNvSpPr txBox="1"/>
          <p:nvPr/>
        </p:nvSpPr>
        <p:spPr>
          <a:xfrm>
            <a:off x="548640" y="1280160"/>
            <a:ext cx="5212080" cy="4572000"/>
          </a:xfrm>
          <a:prstGeom prst="rect">
            <a:avLst/>
          </a:prstGeom>
          <a:noFill/>
        </p:spPr>
        <p:txBody>
          <a:bodyPr wrap="square" lIns="45720" rIns="45720">
            <a:spAutoFit/>
          </a:bodyPr>
          <a:lstStyle/>
          <a:p>
            <a:pPr algn="l">
              <a:spcAft>
                <a:spcPts val="800"/>
              </a:spcAft>
            </a:pPr>
            <a:r>
              <a:rPr sz="1600">
                <a:solidFill>
                  <a:srgbClr val="1F2937"/>
                </a:solidFill>
                <a:latin typeface="Calibri"/>
              </a:rPr>
              <a:t>•  Live workload reading for every active session</a:t>
            </a:r>
          </a:p>
          <a:p>
            <a:pPr algn="l">
              <a:spcAft>
                <a:spcPts val="800"/>
              </a:spcAft>
            </a:pPr>
            <a:r>
              <a:rPr sz="1600">
                <a:solidFill>
                  <a:srgbClr val="1F2937"/>
                </a:solidFill>
                <a:latin typeface="Calibri"/>
              </a:rPr>
              <a:t>•  Probability bars for Low / Medium / High</a:t>
            </a:r>
          </a:p>
          <a:p>
            <a:pPr algn="l">
              <a:spcAft>
                <a:spcPts val="800"/>
              </a:spcAft>
            </a:pPr>
            <a:r>
              <a:rPr sz="1600">
                <a:solidFill>
                  <a:srgbClr val="1F2937"/>
                </a:solidFill>
                <a:latin typeface="Calibri"/>
              </a:rPr>
              <a:t>•  Lifetime counts of pupil samples, blinks, fixations received</a:t>
            </a:r>
          </a:p>
          <a:p>
            <a:pPr algn="l">
              <a:spcAft>
                <a:spcPts val="800"/>
              </a:spcAft>
            </a:pPr>
            <a:r>
              <a:rPr sz="1600">
                <a:solidFill>
                  <a:srgbClr val="1F2937"/>
                </a:solidFill>
                <a:latin typeface="Calibri"/>
              </a:rPr>
              <a:t>•  Warnings if any sensor stops responding</a:t>
            </a:r>
          </a:p>
          <a:p>
            <a:pPr algn="l">
              <a:spcAft>
                <a:spcPts val="800"/>
              </a:spcAft>
            </a:pPr>
            <a:r>
              <a:rPr sz="1600">
                <a:solidFill>
                  <a:srgbClr val="1F2937"/>
                </a:solidFill>
                <a:latin typeface="Calibri"/>
              </a:rPr>
              <a:t>•  Operators NEVER see this view — it's a back-office screen for trainers and safety auditors</a:t>
            </a:r>
          </a:p>
        </p:txBody>
      </p:sp>
      <p:sp>
        <p:nvSpPr>
          <p:cNvPr id="5" name="Rectangle 4"/>
          <p:cNvSpPr/>
          <p:nvPr/>
        </p:nvSpPr>
        <p:spPr>
          <a:xfrm>
            <a:off x="6918933" y="1280160"/>
            <a:ext cx="3992933" cy="2377440"/>
          </a:xfrm>
          <a:prstGeom prst="rect">
            <a:avLst/>
          </a:prstGeom>
          <a:solidFill>
            <a:srgbClr val="FFFFFF"/>
          </a:solidFill>
          <a:ln w="9525">
            <a:solidFill>
              <a:srgbClr val="556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creenshot 2026-05-13 153103.png"/>
          <p:cNvPicPr>
            <a:picLocks noChangeAspect="1"/>
          </p:cNvPicPr>
          <p:nvPr/>
        </p:nvPicPr>
        <p:blipFill>
          <a:blip r:embed="rId3"/>
          <a:stretch>
            <a:fillRect/>
          </a:stretch>
        </p:blipFill>
        <p:spPr>
          <a:xfrm>
            <a:off x="6918933" y="1280160"/>
            <a:ext cx="3992933" cy="2377440"/>
          </a:xfrm>
          <a:prstGeom prst="rect">
            <a:avLst/>
          </a:prstGeom>
        </p:spPr>
      </p:pic>
      <p:sp>
        <p:nvSpPr>
          <p:cNvPr id="7" name="Rectangle 6"/>
          <p:cNvSpPr/>
          <p:nvPr/>
        </p:nvSpPr>
        <p:spPr>
          <a:xfrm>
            <a:off x="6917892" y="3840480"/>
            <a:ext cx="3995015" cy="2377440"/>
          </a:xfrm>
          <a:prstGeom prst="rect">
            <a:avLst/>
          </a:prstGeom>
          <a:solidFill>
            <a:srgbClr val="FFFFFF"/>
          </a:solidFill>
          <a:ln w="9525">
            <a:solidFill>
              <a:srgbClr val="556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5-13 152849.png"/>
          <p:cNvPicPr>
            <a:picLocks noChangeAspect="1"/>
          </p:cNvPicPr>
          <p:nvPr/>
        </p:nvPicPr>
        <p:blipFill>
          <a:blip r:embed="rId4"/>
          <a:stretch>
            <a:fillRect/>
          </a:stretch>
        </p:blipFill>
        <p:spPr>
          <a:xfrm>
            <a:off x="6917892" y="3840480"/>
            <a:ext cx="3995015" cy="2377440"/>
          </a:xfrm>
          <a:prstGeom prst="rect">
            <a:avLst/>
          </a:prstGeom>
        </p:spPr>
      </p:pic>
      <p:sp>
        <p:nvSpPr>
          <p:cNvPr id="9" name="TextBox 8"/>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10" name="TextBox 9"/>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13 / 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How it works, end to end</a:t>
            </a:r>
          </a:p>
        </p:txBody>
      </p:sp>
      <p:sp>
        <p:nvSpPr>
          <p:cNvPr id="4" name="TextBox 3"/>
          <p:cNvSpPr txBox="1"/>
          <p:nvPr/>
        </p:nvSpPr>
        <p:spPr>
          <a:xfrm>
            <a:off x="548640" y="1188720"/>
            <a:ext cx="10972800" cy="457200"/>
          </a:xfrm>
          <a:prstGeom prst="rect">
            <a:avLst/>
          </a:prstGeom>
          <a:noFill/>
        </p:spPr>
        <p:txBody>
          <a:bodyPr wrap="square" lIns="45720" tIns="18288" rIns="45720" bIns="18288" anchor="t">
            <a:spAutoFit/>
          </a:bodyPr>
          <a:lstStyle/>
          <a:p>
            <a:pPr algn="l"/>
            <a:r>
              <a:rPr sz="1600" b="0">
                <a:solidFill>
                  <a:srgbClr val="556575"/>
                </a:solidFill>
                <a:latin typeface="Calibri"/>
              </a:rPr>
              <a:t>Four pieces, all running on one laptop. No cloud. No internet required.</a:t>
            </a:r>
          </a:p>
        </p:txBody>
      </p:sp>
      <p:sp>
        <p:nvSpPr>
          <p:cNvPr id="5" name="Rectangle 4"/>
          <p:cNvSpPr/>
          <p:nvPr/>
        </p:nvSpPr>
        <p:spPr>
          <a:xfrm>
            <a:off x="609447" y="2377440"/>
            <a:ext cx="2468880" cy="2011680"/>
          </a:xfrm>
          <a:prstGeom prst="rect">
            <a:avLst/>
          </a:prstGeom>
          <a:solidFill>
            <a:srgbClr val="F1F5F9"/>
          </a:solidFill>
          <a:ln w="25400">
            <a:solidFill>
              <a:srgbClr val="DD1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447" y="2377440"/>
            <a:ext cx="2468880" cy="457200"/>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447" y="2432304"/>
            <a:ext cx="2468880" cy="365760"/>
          </a:xfrm>
          <a:prstGeom prst="rect">
            <a:avLst/>
          </a:prstGeom>
          <a:noFill/>
        </p:spPr>
        <p:txBody>
          <a:bodyPr wrap="square" lIns="45720" tIns="18288" rIns="45720" bIns="18288" anchor="t">
            <a:spAutoFit/>
          </a:bodyPr>
          <a:lstStyle/>
          <a:p>
            <a:pPr algn="ctr"/>
            <a:r>
              <a:rPr sz="1500" b="1">
                <a:solidFill>
                  <a:srgbClr val="FFFFFF"/>
                </a:solidFill>
                <a:latin typeface="Calibri"/>
              </a:rPr>
              <a:t>Operator</a:t>
            </a:r>
          </a:p>
        </p:txBody>
      </p:sp>
      <p:sp>
        <p:nvSpPr>
          <p:cNvPr id="8" name="TextBox 7"/>
          <p:cNvSpPr txBox="1"/>
          <p:nvPr/>
        </p:nvSpPr>
        <p:spPr>
          <a:xfrm>
            <a:off x="792327" y="3017520"/>
            <a:ext cx="2103120" cy="1280160"/>
          </a:xfrm>
          <a:prstGeom prst="rect">
            <a:avLst/>
          </a:prstGeom>
          <a:noFill/>
        </p:spPr>
        <p:txBody>
          <a:bodyPr wrap="square" lIns="45720" tIns="18288" rIns="45720" bIns="18288" anchor="ctr">
            <a:spAutoFit/>
          </a:bodyPr>
          <a:lstStyle/>
          <a:p>
            <a:pPr algn="ctr"/>
            <a:r>
              <a:rPr sz="1300" b="0">
                <a:solidFill>
                  <a:srgbClr val="1F2937"/>
                </a:solidFill>
                <a:latin typeface="Calibri"/>
              </a:rPr>
              <a:t>wearing eye-tracker glasses</a:t>
            </a:r>
          </a:p>
        </p:txBody>
      </p:sp>
      <p:sp>
        <p:nvSpPr>
          <p:cNvPr id="9" name="Rectangle 8"/>
          <p:cNvSpPr/>
          <p:nvPr/>
        </p:nvSpPr>
        <p:spPr>
          <a:xfrm>
            <a:off x="3444087" y="2377440"/>
            <a:ext cx="2468880" cy="2011680"/>
          </a:xfrm>
          <a:prstGeom prst="rect">
            <a:avLst/>
          </a:prstGeom>
          <a:solidFill>
            <a:srgbClr val="F1F5F9"/>
          </a:solidFill>
          <a:ln w="25400">
            <a:solidFill>
              <a:srgbClr val="E982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44087" y="2377440"/>
            <a:ext cx="2468880" cy="457200"/>
          </a:xfrm>
          <a:prstGeom prst="rect">
            <a:avLst/>
          </a:prstGeom>
          <a:solidFill>
            <a:srgbClr val="E982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44087" y="2432304"/>
            <a:ext cx="2468880" cy="365760"/>
          </a:xfrm>
          <a:prstGeom prst="rect">
            <a:avLst/>
          </a:prstGeom>
          <a:noFill/>
        </p:spPr>
        <p:txBody>
          <a:bodyPr wrap="square" lIns="45720" tIns="18288" rIns="45720" bIns="18288" anchor="t">
            <a:spAutoFit/>
          </a:bodyPr>
          <a:lstStyle/>
          <a:p>
            <a:pPr algn="ctr"/>
            <a:r>
              <a:rPr sz="1500" b="1">
                <a:solidFill>
                  <a:srgbClr val="FFFFFF"/>
                </a:solidFill>
                <a:latin typeface="Calibri"/>
              </a:rPr>
              <a:t>Eye signals</a:t>
            </a:r>
          </a:p>
        </p:txBody>
      </p:sp>
      <p:sp>
        <p:nvSpPr>
          <p:cNvPr id="12" name="TextBox 11"/>
          <p:cNvSpPr txBox="1"/>
          <p:nvPr/>
        </p:nvSpPr>
        <p:spPr>
          <a:xfrm>
            <a:off x="3626967" y="3017520"/>
            <a:ext cx="2103120" cy="1280160"/>
          </a:xfrm>
          <a:prstGeom prst="rect">
            <a:avLst/>
          </a:prstGeom>
          <a:noFill/>
        </p:spPr>
        <p:txBody>
          <a:bodyPr wrap="square" lIns="45720" tIns="18288" rIns="45720" bIns="18288" anchor="ctr">
            <a:spAutoFit/>
          </a:bodyPr>
          <a:lstStyle/>
          <a:p>
            <a:pPr algn="ctr"/>
            <a:r>
              <a:rPr sz="1300" b="0">
                <a:solidFill>
                  <a:srgbClr val="1F2937"/>
                </a:solidFill>
                <a:latin typeface="Calibri"/>
              </a:rPr>
              <a:t>pupil, blinks, fixations</a:t>
            </a:r>
          </a:p>
        </p:txBody>
      </p:sp>
      <p:sp>
        <p:nvSpPr>
          <p:cNvPr id="13" name="Rectangle 12"/>
          <p:cNvSpPr/>
          <p:nvPr/>
        </p:nvSpPr>
        <p:spPr>
          <a:xfrm>
            <a:off x="6278727" y="2377440"/>
            <a:ext cx="2468880" cy="2011680"/>
          </a:xfrm>
          <a:prstGeom prst="rect">
            <a:avLst/>
          </a:prstGeom>
          <a:solidFill>
            <a:srgbClr val="F1F5F9"/>
          </a:solidFill>
          <a:ln w="25400">
            <a:solidFill>
              <a:srgbClr val="215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78727" y="2377440"/>
            <a:ext cx="2468880" cy="457200"/>
          </a:xfrm>
          <a:prstGeom prst="rect">
            <a:avLst/>
          </a:prstGeom>
          <a:solidFill>
            <a:srgbClr val="215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78727" y="2432304"/>
            <a:ext cx="2468880" cy="365760"/>
          </a:xfrm>
          <a:prstGeom prst="rect">
            <a:avLst/>
          </a:prstGeom>
          <a:noFill/>
        </p:spPr>
        <p:txBody>
          <a:bodyPr wrap="square" lIns="45720" tIns="18288" rIns="45720" bIns="18288" anchor="t">
            <a:spAutoFit/>
          </a:bodyPr>
          <a:lstStyle/>
          <a:p>
            <a:pPr algn="ctr"/>
            <a:r>
              <a:rPr sz="1500" b="1">
                <a:solidFill>
                  <a:srgbClr val="FFFFFF"/>
                </a:solidFill>
                <a:latin typeface="Calibri"/>
              </a:rPr>
              <a:t>RTAPS analyser</a:t>
            </a:r>
          </a:p>
        </p:txBody>
      </p:sp>
      <p:sp>
        <p:nvSpPr>
          <p:cNvPr id="16" name="TextBox 15"/>
          <p:cNvSpPr txBox="1"/>
          <p:nvPr/>
        </p:nvSpPr>
        <p:spPr>
          <a:xfrm>
            <a:off x="6461607" y="3017520"/>
            <a:ext cx="2103120" cy="1280160"/>
          </a:xfrm>
          <a:prstGeom prst="rect">
            <a:avLst/>
          </a:prstGeom>
          <a:noFill/>
        </p:spPr>
        <p:txBody>
          <a:bodyPr wrap="square" lIns="45720" tIns="18288" rIns="45720" bIns="18288" anchor="ctr">
            <a:spAutoFit/>
          </a:bodyPr>
          <a:lstStyle/>
          <a:p>
            <a:pPr algn="ctr"/>
            <a:r>
              <a:rPr sz="1300" b="0">
                <a:solidFill>
                  <a:srgbClr val="1F2937"/>
                </a:solidFill>
                <a:latin typeface="Calibri"/>
              </a:rPr>
              <a:t>decides workload level</a:t>
            </a:r>
          </a:p>
        </p:txBody>
      </p:sp>
      <p:sp>
        <p:nvSpPr>
          <p:cNvPr id="17" name="Rectangle 16"/>
          <p:cNvSpPr/>
          <p:nvPr/>
        </p:nvSpPr>
        <p:spPr>
          <a:xfrm>
            <a:off x="9113367" y="2377440"/>
            <a:ext cx="2468880" cy="2011680"/>
          </a:xfrm>
          <a:prstGeom prst="rect">
            <a:avLst/>
          </a:prstGeom>
          <a:solidFill>
            <a:srgbClr val="F1F5F9"/>
          </a:solidFill>
          <a:ln w="25400">
            <a:solidFill>
              <a:srgbClr val="2A9D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13367" y="2377440"/>
            <a:ext cx="2468880" cy="457200"/>
          </a:xfrm>
          <a:prstGeom prst="rect">
            <a:avLst/>
          </a:prstGeom>
          <a:solidFill>
            <a:srgbClr val="2A9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13367" y="2432304"/>
            <a:ext cx="2468880" cy="365760"/>
          </a:xfrm>
          <a:prstGeom prst="rect">
            <a:avLst/>
          </a:prstGeom>
          <a:noFill/>
        </p:spPr>
        <p:txBody>
          <a:bodyPr wrap="square" lIns="45720" tIns="18288" rIns="45720" bIns="18288" anchor="t">
            <a:spAutoFit/>
          </a:bodyPr>
          <a:lstStyle/>
          <a:p>
            <a:pPr algn="ctr"/>
            <a:r>
              <a:rPr sz="1500" b="1">
                <a:solidFill>
                  <a:srgbClr val="FFFFFF"/>
                </a:solidFill>
                <a:latin typeface="Calibri"/>
              </a:rPr>
              <a:t>Procedure screen</a:t>
            </a:r>
          </a:p>
        </p:txBody>
      </p:sp>
      <p:sp>
        <p:nvSpPr>
          <p:cNvPr id="20" name="TextBox 19"/>
          <p:cNvSpPr txBox="1"/>
          <p:nvPr/>
        </p:nvSpPr>
        <p:spPr>
          <a:xfrm>
            <a:off x="9296247" y="3017520"/>
            <a:ext cx="2103120" cy="1280160"/>
          </a:xfrm>
          <a:prstGeom prst="rect">
            <a:avLst/>
          </a:prstGeom>
          <a:noFill/>
        </p:spPr>
        <p:txBody>
          <a:bodyPr wrap="square" lIns="45720" tIns="18288" rIns="45720" bIns="18288" anchor="ctr">
            <a:spAutoFit/>
          </a:bodyPr>
          <a:lstStyle/>
          <a:p>
            <a:pPr algn="ctr"/>
            <a:r>
              <a:rPr sz="1300" b="0">
                <a:solidFill>
                  <a:srgbClr val="1F2937"/>
                </a:solidFill>
                <a:latin typeface="Calibri"/>
              </a:rPr>
              <a:t>shows adaptive guidance</a:t>
            </a:r>
          </a:p>
        </p:txBody>
      </p:sp>
      <p:sp>
        <p:nvSpPr>
          <p:cNvPr id="21" name="TextBox 20"/>
          <p:cNvSpPr txBox="1"/>
          <p:nvPr/>
        </p:nvSpPr>
        <p:spPr>
          <a:xfrm>
            <a:off x="3078327" y="3200400"/>
            <a:ext cx="365760" cy="457200"/>
          </a:xfrm>
          <a:prstGeom prst="rect">
            <a:avLst/>
          </a:prstGeom>
          <a:noFill/>
        </p:spPr>
        <p:txBody>
          <a:bodyPr wrap="square" lIns="45720" tIns="18288" rIns="45720" bIns="18288" anchor="t">
            <a:spAutoFit/>
          </a:bodyPr>
          <a:lstStyle/>
          <a:p>
            <a:pPr algn="ctr"/>
            <a:r>
              <a:rPr sz="3000" b="1">
                <a:solidFill>
                  <a:srgbClr val="556575"/>
                </a:solidFill>
                <a:latin typeface="Calibri"/>
              </a:rPr>
              <a:t>→</a:t>
            </a:r>
          </a:p>
        </p:txBody>
      </p:sp>
      <p:sp>
        <p:nvSpPr>
          <p:cNvPr id="22" name="TextBox 21"/>
          <p:cNvSpPr txBox="1"/>
          <p:nvPr/>
        </p:nvSpPr>
        <p:spPr>
          <a:xfrm>
            <a:off x="5912967" y="3200400"/>
            <a:ext cx="365760" cy="457200"/>
          </a:xfrm>
          <a:prstGeom prst="rect">
            <a:avLst/>
          </a:prstGeom>
          <a:noFill/>
        </p:spPr>
        <p:txBody>
          <a:bodyPr wrap="square" lIns="45720" tIns="18288" rIns="45720" bIns="18288" anchor="t">
            <a:spAutoFit/>
          </a:bodyPr>
          <a:lstStyle/>
          <a:p>
            <a:pPr algn="ctr"/>
            <a:r>
              <a:rPr sz="3000" b="1">
                <a:solidFill>
                  <a:srgbClr val="556575"/>
                </a:solidFill>
                <a:latin typeface="Calibri"/>
              </a:rPr>
              <a:t>→</a:t>
            </a:r>
          </a:p>
        </p:txBody>
      </p:sp>
      <p:sp>
        <p:nvSpPr>
          <p:cNvPr id="23" name="TextBox 22"/>
          <p:cNvSpPr txBox="1"/>
          <p:nvPr/>
        </p:nvSpPr>
        <p:spPr>
          <a:xfrm>
            <a:off x="8747607" y="3200400"/>
            <a:ext cx="365760" cy="457200"/>
          </a:xfrm>
          <a:prstGeom prst="rect">
            <a:avLst/>
          </a:prstGeom>
          <a:noFill/>
        </p:spPr>
        <p:txBody>
          <a:bodyPr wrap="square" lIns="45720" tIns="18288" rIns="45720" bIns="18288" anchor="t">
            <a:spAutoFit/>
          </a:bodyPr>
          <a:lstStyle/>
          <a:p>
            <a:pPr algn="ctr"/>
            <a:r>
              <a:rPr sz="3000" b="1">
                <a:solidFill>
                  <a:srgbClr val="556575"/>
                </a:solidFill>
                <a:latin typeface="Calibri"/>
              </a:rPr>
              <a:t>→</a:t>
            </a:r>
          </a:p>
        </p:txBody>
      </p:sp>
      <p:sp>
        <p:nvSpPr>
          <p:cNvPr id="24" name="TextBox 23"/>
          <p:cNvSpPr txBox="1"/>
          <p:nvPr/>
        </p:nvSpPr>
        <p:spPr>
          <a:xfrm>
            <a:off x="548640" y="4937760"/>
            <a:ext cx="10972800" cy="548640"/>
          </a:xfrm>
          <a:prstGeom prst="rect">
            <a:avLst/>
          </a:prstGeom>
          <a:noFill/>
        </p:spPr>
        <p:txBody>
          <a:bodyPr wrap="square" lIns="45720" tIns="18288" rIns="45720" bIns="18288" anchor="t">
            <a:spAutoFit/>
          </a:bodyPr>
          <a:lstStyle/>
          <a:p>
            <a:pPr algn="ctr"/>
            <a:r>
              <a:rPr sz="1500" b="1">
                <a:solidFill>
                  <a:srgbClr val="1F2937"/>
                </a:solidFill>
                <a:latin typeface="Calibri"/>
              </a:rPr>
              <a:t>End to end, under one second from the eyes opening wider to the panel appearing on screen.</a:t>
            </a:r>
          </a:p>
        </p:txBody>
      </p:sp>
      <p:sp>
        <p:nvSpPr>
          <p:cNvPr id="25" name="TextBox 24"/>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26" name="TextBox 25"/>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14 / 17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D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640080"/>
          </a:xfrm>
          <a:prstGeom prst="rect">
            <a:avLst/>
          </a:prstGeom>
          <a:noFill/>
        </p:spPr>
        <p:txBody>
          <a:bodyPr wrap="square" lIns="45720" tIns="18288" rIns="45720" bIns="18288" anchor="t">
            <a:spAutoFit/>
          </a:bodyPr>
          <a:lstStyle/>
          <a:p>
            <a:pPr algn="l"/>
            <a:r>
              <a:rPr sz="3000" b="1">
                <a:solidFill>
                  <a:srgbClr val="1F2937"/>
                </a:solidFill>
                <a:latin typeface="Calibri"/>
              </a:rPr>
              <a:t>Why this matters for Shell</a:t>
            </a:r>
          </a:p>
        </p:txBody>
      </p:sp>
      <p:sp>
        <p:nvSpPr>
          <p:cNvPr id="4" name="Rectangle 3"/>
          <p:cNvSpPr/>
          <p:nvPr/>
        </p:nvSpPr>
        <p:spPr>
          <a:xfrm>
            <a:off x="548640" y="1371600"/>
            <a:ext cx="137160" cy="685800"/>
          </a:xfrm>
          <a:prstGeom prst="rect">
            <a:avLst/>
          </a:prstGeom>
          <a:solidFill>
            <a:srgbClr val="FBC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371600"/>
            <a:ext cx="3200400" cy="777240"/>
          </a:xfrm>
          <a:prstGeom prst="rect">
            <a:avLst/>
          </a:prstGeom>
          <a:noFill/>
        </p:spPr>
        <p:txBody>
          <a:bodyPr wrap="square" lIns="45720" tIns="18288" rIns="45720" bIns="18288" anchor="ctr">
            <a:spAutoFit/>
          </a:bodyPr>
          <a:lstStyle/>
          <a:p>
            <a:pPr algn="l"/>
            <a:r>
              <a:rPr sz="1600" b="1">
                <a:solidFill>
                  <a:srgbClr val="DD1D21"/>
                </a:solidFill>
                <a:latin typeface="Calibri"/>
              </a:rPr>
              <a:t>Fewer mistakes</a:t>
            </a:r>
          </a:p>
        </p:txBody>
      </p:sp>
      <p:sp>
        <p:nvSpPr>
          <p:cNvPr id="6" name="TextBox 5"/>
          <p:cNvSpPr txBox="1"/>
          <p:nvPr/>
        </p:nvSpPr>
        <p:spPr>
          <a:xfrm>
            <a:off x="4114800" y="1371600"/>
            <a:ext cx="7589520" cy="777240"/>
          </a:xfrm>
          <a:prstGeom prst="rect">
            <a:avLst/>
          </a:prstGeom>
          <a:noFill/>
        </p:spPr>
        <p:txBody>
          <a:bodyPr wrap="square" lIns="45720" tIns="18288" rIns="45720" bIns="18288" anchor="ctr">
            <a:spAutoFit/>
          </a:bodyPr>
          <a:lstStyle/>
          <a:p>
            <a:pPr algn="l"/>
            <a:r>
              <a:rPr sz="1400" b="0">
                <a:solidFill>
                  <a:srgbClr val="1F2937"/>
                </a:solidFill>
                <a:latin typeface="Calibri"/>
              </a:rPr>
              <a:t>Operators get help right when they need it, before they make an error</a:t>
            </a:r>
          </a:p>
        </p:txBody>
      </p:sp>
      <p:sp>
        <p:nvSpPr>
          <p:cNvPr id="7" name="Rectangle 6"/>
          <p:cNvSpPr/>
          <p:nvPr/>
        </p:nvSpPr>
        <p:spPr>
          <a:xfrm>
            <a:off x="548640" y="2148840"/>
            <a:ext cx="137160" cy="685800"/>
          </a:xfrm>
          <a:prstGeom prst="rect">
            <a:avLst/>
          </a:prstGeom>
          <a:solidFill>
            <a:srgbClr val="FBC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148840"/>
            <a:ext cx="3200400" cy="777240"/>
          </a:xfrm>
          <a:prstGeom prst="rect">
            <a:avLst/>
          </a:prstGeom>
          <a:noFill/>
        </p:spPr>
        <p:txBody>
          <a:bodyPr wrap="square" lIns="45720" tIns="18288" rIns="45720" bIns="18288" anchor="ctr">
            <a:spAutoFit/>
          </a:bodyPr>
          <a:lstStyle/>
          <a:p>
            <a:pPr algn="l"/>
            <a:r>
              <a:rPr sz="1600" b="1">
                <a:solidFill>
                  <a:srgbClr val="DD1D21"/>
                </a:solidFill>
                <a:latin typeface="Calibri"/>
              </a:rPr>
              <a:t>Faster onboarding</a:t>
            </a:r>
          </a:p>
        </p:txBody>
      </p:sp>
      <p:sp>
        <p:nvSpPr>
          <p:cNvPr id="9" name="TextBox 8"/>
          <p:cNvSpPr txBox="1"/>
          <p:nvPr/>
        </p:nvSpPr>
        <p:spPr>
          <a:xfrm>
            <a:off x="4114800" y="2148840"/>
            <a:ext cx="7589520" cy="777240"/>
          </a:xfrm>
          <a:prstGeom prst="rect">
            <a:avLst/>
          </a:prstGeom>
          <a:noFill/>
        </p:spPr>
        <p:txBody>
          <a:bodyPr wrap="square" lIns="45720" tIns="18288" rIns="45720" bIns="18288" anchor="ctr">
            <a:spAutoFit/>
          </a:bodyPr>
          <a:lstStyle/>
          <a:p>
            <a:pPr algn="l"/>
            <a:r>
              <a:rPr sz="1400" b="0">
                <a:solidFill>
                  <a:srgbClr val="1F2937"/>
                </a:solidFill>
                <a:latin typeface="Calibri"/>
              </a:rPr>
              <a:t>New operators get more detail automatically; experienced operators get less clutter</a:t>
            </a:r>
          </a:p>
        </p:txBody>
      </p:sp>
      <p:sp>
        <p:nvSpPr>
          <p:cNvPr id="10" name="Rectangle 9"/>
          <p:cNvSpPr/>
          <p:nvPr/>
        </p:nvSpPr>
        <p:spPr>
          <a:xfrm>
            <a:off x="548640" y="2926080"/>
            <a:ext cx="137160" cy="685800"/>
          </a:xfrm>
          <a:prstGeom prst="rect">
            <a:avLst/>
          </a:prstGeom>
          <a:solidFill>
            <a:srgbClr val="FBC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926080"/>
            <a:ext cx="3200400" cy="777240"/>
          </a:xfrm>
          <a:prstGeom prst="rect">
            <a:avLst/>
          </a:prstGeom>
          <a:noFill/>
        </p:spPr>
        <p:txBody>
          <a:bodyPr wrap="square" lIns="45720" tIns="18288" rIns="45720" bIns="18288" anchor="ctr">
            <a:spAutoFit/>
          </a:bodyPr>
          <a:lstStyle/>
          <a:p>
            <a:pPr algn="l"/>
            <a:r>
              <a:rPr sz="1600" b="1">
                <a:solidFill>
                  <a:srgbClr val="DD1D21"/>
                </a:solidFill>
                <a:latin typeface="Calibri"/>
              </a:rPr>
              <a:t>Hands-off</a:t>
            </a:r>
          </a:p>
        </p:txBody>
      </p:sp>
      <p:sp>
        <p:nvSpPr>
          <p:cNvPr id="12" name="TextBox 11"/>
          <p:cNvSpPr txBox="1"/>
          <p:nvPr/>
        </p:nvSpPr>
        <p:spPr>
          <a:xfrm>
            <a:off x="4114800" y="2926080"/>
            <a:ext cx="7589520" cy="777240"/>
          </a:xfrm>
          <a:prstGeom prst="rect">
            <a:avLst/>
          </a:prstGeom>
          <a:noFill/>
        </p:spPr>
        <p:txBody>
          <a:bodyPr wrap="square" lIns="45720" tIns="18288" rIns="45720" bIns="18288" anchor="ctr">
            <a:spAutoFit/>
          </a:bodyPr>
          <a:lstStyle/>
          <a:p>
            <a:pPr algn="l"/>
            <a:r>
              <a:rPr sz="1400" b="0">
                <a:solidFill>
                  <a:srgbClr val="1F2937"/>
                </a:solidFill>
                <a:latin typeface="Calibri"/>
              </a:rPr>
              <a:t>Nothing to click, no pop-ups to dismiss, no menus to navigate</a:t>
            </a:r>
          </a:p>
        </p:txBody>
      </p:sp>
      <p:sp>
        <p:nvSpPr>
          <p:cNvPr id="13" name="Rectangle 12"/>
          <p:cNvSpPr/>
          <p:nvPr/>
        </p:nvSpPr>
        <p:spPr>
          <a:xfrm>
            <a:off x="548640" y="3703320"/>
            <a:ext cx="137160" cy="685800"/>
          </a:xfrm>
          <a:prstGeom prst="rect">
            <a:avLst/>
          </a:prstGeom>
          <a:solidFill>
            <a:srgbClr val="FBC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703320"/>
            <a:ext cx="3200400" cy="777240"/>
          </a:xfrm>
          <a:prstGeom prst="rect">
            <a:avLst/>
          </a:prstGeom>
          <a:noFill/>
        </p:spPr>
        <p:txBody>
          <a:bodyPr wrap="square" lIns="45720" tIns="18288" rIns="45720" bIns="18288" anchor="ctr">
            <a:spAutoFit/>
          </a:bodyPr>
          <a:lstStyle/>
          <a:p>
            <a:pPr algn="l"/>
            <a:r>
              <a:rPr sz="1600" b="1">
                <a:solidFill>
                  <a:srgbClr val="DD1D21"/>
                </a:solidFill>
                <a:latin typeface="Calibri"/>
              </a:rPr>
              <a:t>Auditable</a:t>
            </a:r>
          </a:p>
        </p:txBody>
      </p:sp>
      <p:sp>
        <p:nvSpPr>
          <p:cNvPr id="15" name="TextBox 14"/>
          <p:cNvSpPr txBox="1"/>
          <p:nvPr/>
        </p:nvSpPr>
        <p:spPr>
          <a:xfrm>
            <a:off x="4114800" y="3703320"/>
            <a:ext cx="7589520" cy="777240"/>
          </a:xfrm>
          <a:prstGeom prst="rect">
            <a:avLst/>
          </a:prstGeom>
          <a:noFill/>
        </p:spPr>
        <p:txBody>
          <a:bodyPr wrap="square" lIns="45720" tIns="18288" rIns="45720" bIns="18288" anchor="ctr">
            <a:spAutoFit/>
          </a:bodyPr>
          <a:lstStyle/>
          <a:p>
            <a:pPr algn="l"/>
            <a:r>
              <a:rPr sz="1400" b="0">
                <a:solidFill>
                  <a:srgbClr val="1F2937"/>
                </a:solidFill>
                <a:latin typeface="Calibri"/>
              </a:rPr>
              <a:t>Every step, every workload reading, recorded for compliance review</a:t>
            </a:r>
          </a:p>
        </p:txBody>
      </p:sp>
      <p:sp>
        <p:nvSpPr>
          <p:cNvPr id="16" name="Rectangle 15"/>
          <p:cNvSpPr/>
          <p:nvPr/>
        </p:nvSpPr>
        <p:spPr>
          <a:xfrm>
            <a:off x="548640" y="4480560"/>
            <a:ext cx="137160" cy="685800"/>
          </a:xfrm>
          <a:prstGeom prst="rect">
            <a:avLst/>
          </a:prstGeom>
          <a:solidFill>
            <a:srgbClr val="FBC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480560"/>
            <a:ext cx="3200400" cy="777240"/>
          </a:xfrm>
          <a:prstGeom prst="rect">
            <a:avLst/>
          </a:prstGeom>
          <a:noFill/>
        </p:spPr>
        <p:txBody>
          <a:bodyPr wrap="square" lIns="45720" tIns="18288" rIns="45720" bIns="18288" anchor="ctr">
            <a:spAutoFit/>
          </a:bodyPr>
          <a:lstStyle/>
          <a:p>
            <a:pPr algn="l"/>
            <a:r>
              <a:rPr sz="1600" b="1">
                <a:solidFill>
                  <a:srgbClr val="DD1D21"/>
                </a:solidFill>
                <a:latin typeface="Calibri"/>
              </a:rPr>
              <a:t>Personalised</a:t>
            </a:r>
          </a:p>
        </p:txBody>
      </p:sp>
      <p:sp>
        <p:nvSpPr>
          <p:cNvPr id="18" name="TextBox 17"/>
          <p:cNvSpPr txBox="1"/>
          <p:nvPr/>
        </p:nvSpPr>
        <p:spPr>
          <a:xfrm>
            <a:off x="4114800" y="4480560"/>
            <a:ext cx="7589520" cy="777240"/>
          </a:xfrm>
          <a:prstGeom prst="rect">
            <a:avLst/>
          </a:prstGeom>
          <a:noFill/>
        </p:spPr>
        <p:txBody>
          <a:bodyPr wrap="square" lIns="45720" tIns="18288" rIns="45720" bIns="18288" anchor="ctr">
            <a:spAutoFit/>
          </a:bodyPr>
          <a:lstStyle/>
          <a:p>
            <a:pPr algn="l"/>
            <a:r>
              <a:rPr sz="1400" b="0">
                <a:solidFill>
                  <a:srgbClr val="1F2937"/>
                </a:solidFill>
                <a:latin typeface="Calibri"/>
              </a:rPr>
              <a:t>Adapts to this operator on this day — not a one-size-fits-all manual</a:t>
            </a:r>
          </a:p>
        </p:txBody>
      </p:sp>
      <p:sp>
        <p:nvSpPr>
          <p:cNvPr id="19" name="Rectangle 18"/>
          <p:cNvSpPr/>
          <p:nvPr/>
        </p:nvSpPr>
        <p:spPr>
          <a:xfrm>
            <a:off x="548640" y="5257800"/>
            <a:ext cx="137160" cy="685800"/>
          </a:xfrm>
          <a:prstGeom prst="rect">
            <a:avLst/>
          </a:prstGeom>
          <a:solidFill>
            <a:srgbClr val="FBCE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257800"/>
            <a:ext cx="3200400" cy="777240"/>
          </a:xfrm>
          <a:prstGeom prst="rect">
            <a:avLst/>
          </a:prstGeom>
          <a:noFill/>
        </p:spPr>
        <p:txBody>
          <a:bodyPr wrap="square" lIns="45720" tIns="18288" rIns="45720" bIns="18288" anchor="ctr">
            <a:spAutoFit/>
          </a:bodyPr>
          <a:lstStyle/>
          <a:p>
            <a:pPr algn="l"/>
            <a:r>
              <a:rPr sz="1600" b="1">
                <a:solidFill>
                  <a:srgbClr val="DD1D21"/>
                </a:solidFill>
                <a:latin typeface="Calibri"/>
              </a:rPr>
              <a:t>Non-disruptive</a:t>
            </a:r>
          </a:p>
        </p:txBody>
      </p:sp>
      <p:sp>
        <p:nvSpPr>
          <p:cNvPr id="21" name="TextBox 20"/>
          <p:cNvSpPr txBox="1"/>
          <p:nvPr/>
        </p:nvSpPr>
        <p:spPr>
          <a:xfrm>
            <a:off x="4114800" y="5257800"/>
            <a:ext cx="7589520" cy="777240"/>
          </a:xfrm>
          <a:prstGeom prst="rect">
            <a:avLst/>
          </a:prstGeom>
          <a:noFill/>
        </p:spPr>
        <p:txBody>
          <a:bodyPr wrap="square" lIns="45720" tIns="18288" rIns="45720" bIns="18288" anchor="ctr">
            <a:spAutoFit/>
          </a:bodyPr>
          <a:lstStyle/>
          <a:p>
            <a:pPr algn="l"/>
            <a:r>
              <a:rPr sz="1400" b="0">
                <a:solidFill>
                  <a:srgbClr val="1F2937"/>
                </a:solidFill>
                <a:latin typeface="Calibri"/>
              </a:rPr>
              <a:t>Screen is calmer when comfortable; busier only when the operator needs it</a:t>
            </a:r>
          </a:p>
        </p:txBody>
      </p:sp>
      <p:sp>
        <p:nvSpPr>
          <p:cNvPr id="22" name="TextBox 21"/>
          <p:cNvSpPr txBox="1"/>
          <p:nvPr/>
        </p:nvSpPr>
        <p:spPr>
          <a:xfrm>
            <a:off x="548640" y="6446520"/>
            <a:ext cx="7315200" cy="365760"/>
          </a:xfrm>
          <a:prstGeom prst="rect">
            <a:avLst/>
          </a:prstGeom>
          <a:noFill/>
        </p:spPr>
        <p:txBody>
          <a:bodyPr wrap="square" lIns="45720" tIns="18288" rIns="45720" bIns="18288" anchor="t">
            <a:spAutoFit/>
          </a:bodyPr>
          <a:lstStyle/>
          <a:p>
            <a:pPr algn="l"/>
            <a:r>
              <a:rPr sz="1000" b="0">
                <a:solidFill>
                  <a:srgbClr val="556575"/>
                </a:solidFill>
                <a:latin typeface="Calibri"/>
              </a:rPr>
              <a:t>RTAPS — Real-Time Adaptive Procedure System</a:t>
            </a:r>
          </a:p>
        </p:txBody>
      </p:sp>
      <p:sp>
        <p:nvSpPr>
          <p:cNvPr id="23" name="TextBox 22"/>
          <p:cNvSpPr txBox="1"/>
          <p:nvPr/>
        </p:nvSpPr>
        <p:spPr>
          <a:xfrm>
            <a:off x="10515600" y="6446520"/>
            <a:ext cx="1371600" cy="365760"/>
          </a:xfrm>
          <a:prstGeom prst="rect">
            <a:avLst/>
          </a:prstGeom>
          <a:noFill/>
        </p:spPr>
        <p:txBody>
          <a:bodyPr wrap="square" lIns="45720" tIns="18288" rIns="45720" bIns="18288" anchor="t">
            <a:spAutoFit/>
          </a:bodyPr>
          <a:lstStyle/>
          <a:p>
            <a:pPr algn="r"/>
            <a:r>
              <a:rPr sz="1000" b="0">
                <a:solidFill>
                  <a:srgbClr val="556575"/>
                </a:solidFill>
                <a:latin typeface="Calibri"/>
              </a:rPr>
              <a:t>15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1918</Words>
  <Application>Microsoft Macintosh PowerPoint</Application>
  <PresentationFormat>Widescreen</PresentationFormat>
  <Paragraphs>183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Vijay Patil, Yash</cp:lastModifiedBy>
  <cp:revision>2</cp:revision>
  <dcterms:created xsi:type="dcterms:W3CDTF">2013-01-27T09:14:16Z</dcterms:created>
  <dcterms:modified xsi:type="dcterms:W3CDTF">2026-05-14T15:13:14Z</dcterms:modified>
  <cp:category/>
</cp:coreProperties>
</file>